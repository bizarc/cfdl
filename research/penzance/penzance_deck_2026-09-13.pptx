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6570"/>
                </a:solidFill>
                <a:latin typeface="Calibri"/>
              </a:defRPr>
            </a:pPr>
            <a:r>
              <a:rPr sz="1200" b="0" i="0" u="none" strike="noStrike">
                <a:solidFill>
                  <a:srgbClr val="5C6570"/>
                </a:solidFill>
                <a:latin typeface="Calibri"/>
              </a:rPr>
              <a:t>Equity multiple on the deal's cash, by run</a:t>
            </a:r>
          </a:p>
        </c:rich>
      </c:tx>
      <c:layout/>
      <c:overlay val="0"/>
    </c:title>
    <c:autoTitleDeleted val="0"/>
    <c:plotArea>
      <c:layout/>
      <c:barChart>
        <c:barDir val="bar"/>
        <c:grouping val="clustered"/>
        <c:varyColors val="0"/>
        <c:ser>
          <c:idx val="0"/>
          <c:order val="0"/>
          <c:tx>
            <c:strRef>
              <c:f>Sheet1!$B$1</c:f>
              <c:strCache>
                <c:ptCount val="1"/>
                <c:pt idx="0">
                  <c:v>Equity multiple</c:v>
                </c:pt>
              </c:strCache>
            </c:strRef>
          </c:tx>
          <c:spPr>
            <a:solidFill>
              <a:srgbClr val="79ADBD"/>
            </a:solidFill>
            <a:effectLst/>
          </c:spPr>
          <c:invertIfNegative val="0"/>
          <c:dLbls>
            <c:numFmt formatCode="0.00&quot;x&quot;" sourceLinked="0"/>
            <c:txPr>
              <a:bodyPr/>
              <a:lstStyle/>
              <a:p>
                <a:pPr>
                  <a:defRPr b="0" i="0" strike="noStrike" sz="1100" u="none">
                    <a:solidFill>
                      <a:srgbClr val="191C1F"/>
                    </a:solidFill>
                    <a:latin typeface="Calibri"/>
                  </a:defRPr>
                </a:pPr>
              </a:p>
            </c:txPr>
            <c:showLegendKey val="0"/>
            <c:showVal val="1"/>
            <c:showCatName val="0"/>
            <c:showSerName val="0"/>
            <c:showPercent val="0"/>
            <c:showBubbleSize val="0"/>
            <c:showLeaderLines val="0"/>
          </c:dLbls>
          <c:dPt>
            <c:idx val="0"/>
            <c:invertIfNegative val="0"/>
            <c:bubble3D val="0"/>
            <c:spPr>
              <a:solidFill>
                <a:srgbClr val="79ADBD"/>
              </a:solidFill>
              <a:effectLst/>
            </c:spPr>
          </c:dPt>
          <c:dPt>
            <c:idx val="1"/>
            <c:invertIfNegative val="0"/>
            <c:bubble3D val="0"/>
            <c:spPr>
              <a:solidFill>
                <a:srgbClr val="79ADBD"/>
              </a:solidFill>
              <a:effectLst/>
            </c:spPr>
          </c:dPt>
          <c:dPt>
            <c:idx val="2"/>
            <c:invertIfNegative val="0"/>
            <c:bubble3D val="0"/>
            <c:spPr>
              <a:solidFill>
                <a:srgbClr val="79ADBD"/>
              </a:solidFill>
              <a:effectLst/>
            </c:spPr>
          </c:dPt>
          <c:dPt>
            <c:idx val="3"/>
            <c:invertIfNegative val="0"/>
            <c:bubble3D val="0"/>
            <c:spPr>
              <a:solidFill>
                <a:srgbClr val="1F4E5F"/>
              </a:solidFill>
              <a:effectLst/>
            </c:spPr>
          </c:dPt>
          <c:dPt>
            <c:idx val="4"/>
            <c:invertIfNegative val="0"/>
            <c:bubble3D val="0"/>
            <c:spPr>
              <a:solidFill>
                <a:srgbClr val="1F4E5F"/>
              </a:solidFill>
              <a:effectLst/>
            </c:spPr>
          </c:dPt>
          <c:dPt>
            <c:idx val="5"/>
            <c:invertIfNegative val="0"/>
            <c:bubble3D val="0"/>
            <c:spPr>
              <a:solidFill>
                <a:srgbClr val="1F4E5F"/>
              </a:solidFill>
              <a:effectLst/>
            </c:spPr>
          </c:dPt>
          <c:cat>
            <c:multiLvlStrRef>
              <c:f>Sheet1!$A$2:$A$7</c:f>
              <c:multiLvlStrCache>
                <c:ptCount val="6"/>
                <c:lvl>
                  <c:pt idx="0">
                    <c:v>Sell · 2026 discount</c:v>
                  </c:pt>
                  <c:pt idx="1">
                    <c:v>Sell · guideline</c:v>
                  </c:pt>
                  <c:pt idx="2">
                    <c:v>Sell · 2022 premium</c:v>
                  </c:pt>
                  <c:pt idx="3">
                    <c:v>Hold · 2026 discount</c:v>
                  </c:pt>
                  <c:pt idx="4">
                    <c:v>Hold · guideline</c:v>
                  </c:pt>
                  <c:pt idx="5">
                    <c:v>Hold · 2022 premium</c:v>
                  </c:pt>
                </c:lvl>
              </c:multiLvlStrCache>
            </c:multiLvlStrRef>
          </c:cat>
          <c:val>
            <c:numRef>
              <c:f>Sheet1!$B$2:$B$7</c:f>
              <c:numCache>
                <c:formatCode>General</c:formatCode>
                <c:ptCount val="6"/>
                <c:pt idx="0">
                  <c:v>0.877</c:v>
                </c:pt>
                <c:pt idx="1">
                  <c:v>1.094</c:v>
                </c:pt>
                <c:pt idx="2">
                  <c:v>1.695</c:v>
                </c:pt>
                <c:pt idx="3">
                  <c:v>1.474</c:v>
                </c:pt>
                <c:pt idx="4">
                  <c:v>1.738</c:v>
                </c:pt>
                <c:pt idx="5">
                  <c:v>2.47</c:v>
                </c:pt>
              </c:numCache>
            </c:numRef>
          </c:val>
        </c:ser>
        <c:dLbls>
          <c:numFmt formatCode="0.00&quot;x&quot;" sourceLinked="0"/>
          <c:txPr>
            <a:bodyPr/>
            <a:lstStyle/>
            <a:p>
              <a:pPr>
                <a:defRPr b="0" i="0" strike="noStrike" sz="1100" u="none">
                  <a:solidFill>
                    <a:srgbClr val="191C1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91C1F"/>
                </a:solidFill>
                <a:latin typeface="Calibri"/>
              </a:defRPr>
            </a:pPr>
            <a:endParaRPr lang="en-US"/>
          </a:p>
        </c:txPr>
        <c:crossAx val="2094734552"/>
        <c:crosses val="autoZero"/>
        <c:auto val="1"/>
        <c:lblAlgn val="ctr"/>
        <c:noMultiLvlLbl val="1"/>
      </c:catAx>
      <c:valAx>
        <c:axId val="2094734552"/>
        <c:scaling>
          <c:orientation val="minMax"/>
          <c:max val="3"/>
          <c:min val="0"/>
        </c:scaling>
        <c:delete val="0"/>
        <c:axPos val="b"/>
        <c:majorGridlines>
          <c:spPr>
            <a:ln w="6350" cap="flat">
              <a:solidFill>
                <a:srgbClr val="E2DFD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5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thesis, not on the tool. The two buildings are the reason we are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640080" y="2011680"/>
            <a:ext cx="7315200" cy="274320"/>
          </a:xfrm>
          <a:prstGeom prst="rect">
            <a:avLst/>
          </a:prstGeom>
          <a:noFill/>
          <a:ln/>
        </p:spPr>
        <p:txBody>
          <a:bodyPr wrap="square" lIns="0" tIns="0" rIns="0" bIns="0" rtlCol="0" anchor="ctr"/>
          <a:lstStyle/>
          <a:p>
            <a:pPr indent="0" marL="0">
              <a:buNone/>
            </a:pPr>
            <a:r>
              <a:rPr lang="en-US" sz="1100" spc="200" kern="0" dirty="0">
                <a:solidFill>
                  <a:srgbClr val="79ADBD"/>
                </a:solidFill>
                <a:latin typeface="Calibri" pitchFamily="34" charset="0"/>
                <a:ea typeface="Calibri" pitchFamily="34" charset="-122"/>
                <a:cs typeface="Calibri" pitchFamily="34" charset="-120"/>
              </a:rPr>
              <a:t>PREPARED FOR PENZANCE</a:t>
            </a:r>
            <a:endParaRPr lang="en-US" sz="1100" dirty="0"/>
          </a:p>
        </p:txBody>
      </p:sp>
      <p:sp>
        <p:nvSpPr>
          <p:cNvPr id="3" name="Text 1"/>
          <p:cNvSpPr txBox="1"/>
          <p:nvPr/>
        </p:nvSpPr>
        <p:spPr>
          <a:xfrm>
            <a:off x="640080" y="2331720"/>
            <a:ext cx="10515600" cy="1097280"/>
          </a:xfrm>
          <a:prstGeom prst="rect">
            <a:avLst/>
          </a:prstGeom>
          <a:noFill/>
          <a:ln/>
        </p:spPr>
        <p:txBody>
          <a:bodyPr wrap="square" lIns="0" tIns="0" rIns="0" bIns="0" rtlCol="0" anchor="ctr"/>
          <a:lstStyle/>
          <a:p>
            <a:pPr indent="0" marL="0">
              <a:buNone/>
            </a:pPr>
            <a:r>
              <a:rPr lang="en-US" sz="4800" dirty="0">
                <a:solidFill>
                  <a:srgbClr val="E8E6E2"/>
                </a:solidFill>
                <a:latin typeface="Cambria" pitchFamily="34" charset="0"/>
                <a:ea typeface="Cambria" pitchFamily="34" charset="-122"/>
                <a:cs typeface="Cambria" pitchFamily="34" charset="-120"/>
              </a:rPr>
              <a:t>Two buildings, one language</a:t>
            </a:r>
            <a:endParaRPr lang="en-US" sz="4800" dirty="0"/>
          </a:p>
        </p:txBody>
      </p:sp>
      <p:sp>
        <p:nvSpPr>
          <p:cNvPr id="4" name="Text 2"/>
          <p:cNvSpPr txBox="1"/>
          <p:nvPr/>
        </p:nvSpPr>
        <p:spPr>
          <a:xfrm>
            <a:off x="640080" y="3520440"/>
            <a:ext cx="8686800" cy="1097280"/>
          </a:xfrm>
          <a:prstGeom prst="rect">
            <a:avLst/>
          </a:prstGeom>
          <a:noFill/>
          <a:ln/>
        </p:spPr>
        <p:txBody>
          <a:bodyPr wrap="square" lIns="0" tIns="0" rIns="0" bIns="0" rtlCol="0" anchor="ctr"/>
          <a:lstStyle/>
          <a:p>
            <a:pPr indent="0" marL="0">
              <a:buNone/>
            </a:pPr>
            <a:r>
              <a:rPr lang="en-US" sz="1800" dirty="0">
                <a:solidFill>
                  <a:srgbClr val="969EA6"/>
                </a:solidFill>
                <a:latin typeface="Calibri" pitchFamily="34" charset="0"/>
                <a:ea typeface="Calibri" pitchFamily="34" charset="-122"/>
                <a:cs typeface="Calibri" pitchFamily="34" charset="-120"/>
              </a:rPr>
              <a:t>The Highlands, reconstructed from the public record. One Rosslyn, before it exists. Both written in CFDL, both checked against an independent model, period by period.</a:t>
            </a:r>
            <a:endParaRPr lang="en-US" sz="1800" dirty="0"/>
          </a:p>
        </p:txBody>
      </p:sp>
      <p:sp>
        <p:nvSpPr>
          <p:cNvPr id="5" name="Text 3"/>
          <p:cNvSpPr txBox="1"/>
          <p:nvPr/>
        </p:nvSpPr>
        <p:spPr>
          <a:xfrm>
            <a:off x="640080" y="5852160"/>
            <a:ext cx="4572000" cy="365760"/>
          </a:xfrm>
          <a:prstGeom prst="rect">
            <a:avLst/>
          </a:prstGeom>
          <a:noFill/>
          <a:ln/>
        </p:spPr>
        <p:txBody>
          <a:bodyPr wrap="square" lIns="0" tIns="0" rIns="0" bIns="0" rtlCol="0" anchor="ctr"/>
          <a:lstStyle/>
          <a:p>
            <a:pPr indent="0" marL="0">
              <a:buNone/>
            </a:pPr>
            <a:r>
              <a:rPr lang="en-US" sz="1200" dirty="0">
                <a:solidFill>
                  <a:srgbClr val="79ADBD"/>
                </a:solidFill>
                <a:latin typeface="Calibri" pitchFamily="34" charset="0"/>
                <a:ea typeface="Calibri" pitchFamily="34" charset="-122"/>
                <a:cs typeface="Calibri" pitchFamily="34" charset="-120"/>
              </a:rPr>
              <a:t>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Every deal model is a spreadsheet nobody else can check</a:t>
            </a:r>
            <a:endParaRPr lang="en-US" sz="3000" dirty="0"/>
          </a:p>
        </p:txBody>
      </p:sp>
      <p:sp>
        <p:nvSpPr>
          <p:cNvPr id="4" name="Shape 2"/>
          <p:cNvSpPr/>
          <p:nvPr/>
        </p:nvSpPr>
        <p:spPr>
          <a:xfrm>
            <a:off x="640080" y="1965960"/>
            <a:ext cx="457200" cy="457200"/>
          </a:xfrm>
          <a:prstGeom prst="ellipse">
            <a:avLst/>
          </a:prstGeom>
          <a:solidFill>
            <a:srgbClr val="E6EDEF"/>
          </a:solidFill>
          <a:ln w="12700">
            <a:solidFill>
              <a:srgbClr val="E6EDEF"/>
            </a:solidFill>
            <a:prstDash val="solid"/>
          </a:ln>
        </p:spPr>
      </p:sp>
      <p:sp>
        <p:nvSpPr>
          <p:cNvPr id="5" name="Text 3"/>
          <p:cNvSpPr txBox="1"/>
          <p:nvPr/>
        </p:nvSpPr>
        <p:spPr>
          <a:xfrm>
            <a:off x="640080" y="1965960"/>
            <a:ext cx="457200" cy="457200"/>
          </a:xfrm>
          <a:prstGeom prst="rect">
            <a:avLst/>
          </a:prstGeom>
          <a:noFill/>
          <a:ln/>
        </p:spPr>
        <p:txBody>
          <a:bodyPr wrap="square" lIns="0" tIns="0" rIns="0" bIns="0" rtlCol="0" anchor="ctr"/>
          <a:lstStyle/>
          <a:p>
            <a:pPr algn="ctr" indent="0" marL="0">
              <a:buNone/>
            </a:pPr>
            <a:r>
              <a:rPr lang="en-US" sz="1600" dirty="0">
                <a:solidFill>
                  <a:srgbClr val="1F4E5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280160" y="1920240"/>
            <a:ext cx="4572000" cy="365760"/>
          </a:xfrm>
          <a:prstGeom prst="rect">
            <a:avLst/>
          </a:prstGeom>
          <a:noFill/>
          <a:ln/>
        </p:spPr>
        <p:txBody>
          <a:bodyPr wrap="square" lIns="0" tIns="0" rIns="0" bIns="0" rtlCol="0" anchor="ctr"/>
          <a:lstStyle/>
          <a:p>
            <a:pPr indent="0" marL="0">
              <a:buNone/>
            </a:pPr>
            <a:r>
              <a:rPr lang="en-US" sz="1600" b="1" dirty="0">
                <a:solidFill>
                  <a:srgbClr val="191C1F"/>
                </a:solidFill>
                <a:latin typeface="Calibri" pitchFamily="34" charset="0"/>
                <a:ea typeface="Calibri" pitchFamily="34" charset="-122"/>
                <a:cs typeface="Calibri" pitchFamily="34" charset="-120"/>
              </a:rPr>
              <a:t>Rebuilt every time</a:t>
            </a:r>
            <a:endParaRPr lang="en-US" sz="1600" dirty="0"/>
          </a:p>
        </p:txBody>
      </p:sp>
      <p:sp>
        <p:nvSpPr>
          <p:cNvPr id="7" name="Text 5"/>
          <p:cNvSpPr txBox="1"/>
          <p:nvPr/>
        </p:nvSpPr>
        <p:spPr>
          <a:xfrm>
            <a:off x="1280160" y="2286000"/>
            <a:ext cx="5669280" cy="640080"/>
          </a:xfrm>
          <a:prstGeom prst="rect">
            <a:avLst/>
          </a:prstGeom>
          <a:noFill/>
          <a:ln/>
        </p:spPr>
        <p:txBody>
          <a:bodyPr wrap="square" lIns="0" tIns="0" rIns="0" bIns="0" rtlCol="0" anchor="ctr"/>
          <a:lstStyle/>
          <a:p>
            <a:pPr indent="0" marL="0">
              <a:buNone/>
            </a:pPr>
            <a:r>
              <a:rPr lang="en-US" sz="1300" dirty="0">
                <a:solidFill>
                  <a:srgbClr val="5C6570"/>
                </a:solidFill>
                <a:latin typeface="Calibri" pitchFamily="34" charset="0"/>
                <a:ea typeface="Calibri" pitchFamily="34" charset="-122"/>
                <a:cs typeface="Calibri" pitchFamily="34" charset="-120"/>
              </a:rPr>
              <a:t>Each deal starts from a copied workbook. Nothing carries forward except habit.</a:t>
            </a:r>
            <a:endParaRPr lang="en-US" sz="1300" dirty="0"/>
          </a:p>
        </p:txBody>
      </p:sp>
      <p:sp>
        <p:nvSpPr>
          <p:cNvPr id="8" name="Shape 6"/>
          <p:cNvSpPr/>
          <p:nvPr/>
        </p:nvSpPr>
        <p:spPr>
          <a:xfrm>
            <a:off x="640080" y="3017520"/>
            <a:ext cx="457200" cy="457200"/>
          </a:xfrm>
          <a:prstGeom prst="ellipse">
            <a:avLst/>
          </a:prstGeom>
          <a:solidFill>
            <a:srgbClr val="E6EDEF"/>
          </a:solidFill>
          <a:ln w="12700">
            <a:solidFill>
              <a:srgbClr val="E6EDEF"/>
            </a:solidFill>
            <a:prstDash val="solid"/>
          </a:ln>
        </p:spPr>
      </p:sp>
      <p:sp>
        <p:nvSpPr>
          <p:cNvPr id="9" name="Text 7"/>
          <p:cNvSpPr txBox="1"/>
          <p:nvPr/>
        </p:nvSpPr>
        <p:spPr>
          <a:xfrm>
            <a:off x="640080" y="3017520"/>
            <a:ext cx="457200" cy="457200"/>
          </a:xfrm>
          <a:prstGeom prst="rect">
            <a:avLst/>
          </a:prstGeom>
          <a:noFill/>
          <a:ln/>
        </p:spPr>
        <p:txBody>
          <a:bodyPr wrap="square" lIns="0" tIns="0" rIns="0" bIns="0" rtlCol="0" anchor="ctr"/>
          <a:lstStyle/>
          <a:p>
            <a:pPr algn="ctr" indent="0" marL="0">
              <a:buNone/>
            </a:pPr>
            <a:r>
              <a:rPr lang="en-US" sz="1600" dirty="0">
                <a:solidFill>
                  <a:srgbClr val="1F4E5F"/>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280160" y="2971800"/>
            <a:ext cx="4572000" cy="365760"/>
          </a:xfrm>
          <a:prstGeom prst="rect">
            <a:avLst/>
          </a:prstGeom>
          <a:noFill/>
          <a:ln/>
        </p:spPr>
        <p:txBody>
          <a:bodyPr wrap="square" lIns="0" tIns="0" rIns="0" bIns="0" rtlCol="0" anchor="ctr"/>
          <a:lstStyle/>
          <a:p>
            <a:pPr indent="0" marL="0">
              <a:buNone/>
            </a:pPr>
            <a:r>
              <a:rPr lang="en-US" sz="1600" b="1" dirty="0">
                <a:solidFill>
                  <a:srgbClr val="191C1F"/>
                </a:solidFill>
                <a:latin typeface="Calibri" pitchFamily="34" charset="0"/>
                <a:ea typeface="Calibri" pitchFamily="34" charset="-122"/>
                <a:cs typeface="Calibri" pitchFamily="34" charset="-120"/>
              </a:rPr>
              <a:t>Assumptions hide in cells</a:t>
            </a:r>
            <a:endParaRPr lang="en-US" sz="1600" dirty="0"/>
          </a:p>
        </p:txBody>
      </p:sp>
      <p:sp>
        <p:nvSpPr>
          <p:cNvPr id="11" name="Text 9"/>
          <p:cNvSpPr txBox="1"/>
          <p:nvPr/>
        </p:nvSpPr>
        <p:spPr>
          <a:xfrm>
            <a:off x="1280160" y="3337560"/>
            <a:ext cx="5669280" cy="640080"/>
          </a:xfrm>
          <a:prstGeom prst="rect">
            <a:avLst/>
          </a:prstGeom>
          <a:noFill/>
          <a:ln/>
        </p:spPr>
        <p:txBody>
          <a:bodyPr wrap="square" lIns="0" tIns="0" rIns="0" bIns="0" rtlCol="0" anchor="ctr"/>
          <a:lstStyle/>
          <a:p>
            <a:pPr indent="0" marL="0">
              <a:buNone/>
            </a:pPr>
            <a:r>
              <a:rPr lang="en-US" sz="1300" dirty="0">
                <a:solidFill>
                  <a:srgbClr val="5C6570"/>
                </a:solidFill>
                <a:latin typeface="Calibri" pitchFamily="34" charset="0"/>
                <a:ea typeface="Calibri" pitchFamily="34" charset="-122"/>
                <a:cs typeface="Calibri" pitchFamily="34" charset="-120"/>
              </a:rPr>
              <a:t>A rent growth rate lives in a formula three sheets deep. The memo says one number; the model runs another.</a:t>
            </a:r>
            <a:endParaRPr lang="en-US" sz="1300" dirty="0"/>
          </a:p>
        </p:txBody>
      </p:sp>
      <p:sp>
        <p:nvSpPr>
          <p:cNvPr id="12" name="Shape 10"/>
          <p:cNvSpPr/>
          <p:nvPr/>
        </p:nvSpPr>
        <p:spPr>
          <a:xfrm>
            <a:off x="640080" y="4069080"/>
            <a:ext cx="457200" cy="457200"/>
          </a:xfrm>
          <a:prstGeom prst="ellipse">
            <a:avLst/>
          </a:prstGeom>
          <a:solidFill>
            <a:srgbClr val="E6EDEF"/>
          </a:solidFill>
          <a:ln w="12700">
            <a:solidFill>
              <a:srgbClr val="E6EDEF"/>
            </a:solidFill>
            <a:prstDash val="solid"/>
          </a:ln>
        </p:spPr>
      </p:sp>
      <p:sp>
        <p:nvSpPr>
          <p:cNvPr id="13" name="Text 11"/>
          <p:cNvSpPr txBox="1"/>
          <p:nvPr/>
        </p:nvSpPr>
        <p:spPr>
          <a:xfrm>
            <a:off x="640080" y="4069080"/>
            <a:ext cx="457200" cy="457200"/>
          </a:xfrm>
          <a:prstGeom prst="rect">
            <a:avLst/>
          </a:prstGeom>
          <a:noFill/>
          <a:ln/>
        </p:spPr>
        <p:txBody>
          <a:bodyPr wrap="square" lIns="0" tIns="0" rIns="0" bIns="0" rtlCol="0" anchor="ctr"/>
          <a:lstStyle/>
          <a:p>
            <a:pPr algn="ctr" indent="0" marL="0">
              <a:buNone/>
            </a:pPr>
            <a:r>
              <a:rPr lang="en-US" sz="1600" dirty="0">
                <a:solidFill>
                  <a:srgbClr val="1F4E5F"/>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1280160" y="4023360"/>
            <a:ext cx="4572000" cy="365760"/>
          </a:xfrm>
          <a:prstGeom prst="rect">
            <a:avLst/>
          </a:prstGeom>
          <a:noFill/>
          <a:ln/>
        </p:spPr>
        <p:txBody>
          <a:bodyPr wrap="square" lIns="0" tIns="0" rIns="0" bIns="0" rtlCol="0" anchor="ctr"/>
          <a:lstStyle/>
          <a:p>
            <a:pPr indent="0" marL="0">
              <a:buNone/>
            </a:pPr>
            <a:r>
              <a:rPr lang="en-US" sz="1600" b="1" dirty="0">
                <a:solidFill>
                  <a:srgbClr val="191C1F"/>
                </a:solidFill>
                <a:latin typeface="Calibri" pitchFamily="34" charset="0"/>
                <a:ea typeface="Calibri" pitchFamily="34" charset="-122"/>
                <a:cs typeface="Calibri" pitchFamily="34" charset="-120"/>
              </a:rPr>
              <a:t>No two models agree</a:t>
            </a:r>
            <a:endParaRPr lang="en-US" sz="1600" dirty="0"/>
          </a:p>
        </p:txBody>
      </p:sp>
      <p:sp>
        <p:nvSpPr>
          <p:cNvPr id="15" name="Text 13"/>
          <p:cNvSpPr txBox="1"/>
          <p:nvPr/>
        </p:nvSpPr>
        <p:spPr>
          <a:xfrm>
            <a:off x="1280160" y="4389120"/>
            <a:ext cx="5669280" cy="640080"/>
          </a:xfrm>
          <a:prstGeom prst="rect">
            <a:avLst/>
          </a:prstGeom>
          <a:noFill/>
          <a:ln/>
        </p:spPr>
        <p:txBody>
          <a:bodyPr wrap="square" lIns="0" tIns="0" rIns="0" bIns="0" rtlCol="0" anchor="ctr"/>
          <a:lstStyle/>
          <a:p>
            <a:pPr indent="0" marL="0">
              <a:buNone/>
            </a:pPr>
            <a:r>
              <a:rPr lang="en-US" sz="1300" dirty="0">
                <a:solidFill>
                  <a:srgbClr val="5C6570"/>
                </a:solidFill>
                <a:latin typeface="Calibri" pitchFamily="34" charset="0"/>
                <a:ea typeface="Calibri" pitchFamily="34" charset="-122"/>
                <a:cs typeface="Calibri" pitchFamily="34" charset="-120"/>
              </a:rPr>
              <a:t>The same building, modeled by two analysts, produces two answers. Neither can be reconciled to the other.</a:t>
            </a:r>
            <a:endParaRPr lang="en-US" sz="1300" dirty="0"/>
          </a:p>
        </p:txBody>
      </p:sp>
      <p:sp>
        <p:nvSpPr>
          <p:cNvPr id="16" name="Shape 14"/>
          <p:cNvSpPr/>
          <p:nvPr/>
        </p:nvSpPr>
        <p:spPr>
          <a:xfrm>
            <a:off x="640080" y="5120640"/>
            <a:ext cx="457200" cy="457200"/>
          </a:xfrm>
          <a:prstGeom prst="ellipse">
            <a:avLst/>
          </a:prstGeom>
          <a:solidFill>
            <a:srgbClr val="E6EDEF"/>
          </a:solidFill>
          <a:ln w="12700">
            <a:solidFill>
              <a:srgbClr val="E6EDEF"/>
            </a:solidFill>
            <a:prstDash val="solid"/>
          </a:ln>
        </p:spPr>
      </p:sp>
      <p:sp>
        <p:nvSpPr>
          <p:cNvPr id="17" name="Text 15"/>
          <p:cNvSpPr txBox="1"/>
          <p:nvPr/>
        </p:nvSpPr>
        <p:spPr>
          <a:xfrm>
            <a:off x="640080" y="5120640"/>
            <a:ext cx="457200" cy="457200"/>
          </a:xfrm>
          <a:prstGeom prst="rect">
            <a:avLst/>
          </a:prstGeom>
          <a:noFill/>
          <a:ln/>
        </p:spPr>
        <p:txBody>
          <a:bodyPr wrap="square" lIns="0" tIns="0" rIns="0" bIns="0" rtlCol="0" anchor="ctr"/>
          <a:lstStyle/>
          <a:p>
            <a:pPr algn="ctr" indent="0" marL="0">
              <a:buNone/>
            </a:pPr>
            <a:r>
              <a:rPr lang="en-US" sz="1600" dirty="0">
                <a:solidFill>
                  <a:srgbClr val="1F4E5F"/>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1280160" y="5074920"/>
            <a:ext cx="4572000" cy="365760"/>
          </a:xfrm>
          <a:prstGeom prst="rect">
            <a:avLst/>
          </a:prstGeom>
          <a:noFill/>
          <a:ln/>
        </p:spPr>
        <p:txBody>
          <a:bodyPr wrap="square" lIns="0" tIns="0" rIns="0" bIns="0" rtlCol="0" anchor="ctr"/>
          <a:lstStyle/>
          <a:p>
            <a:pPr indent="0" marL="0">
              <a:buNone/>
            </a:pPr>
            <a:r>
              <a:rPr lang="en-US" sz="1600" b="1" dirty="0">
                <a:solidFill>
                  <a:srgbClr val="191C1F"/>
                </a:solidFill>
                <a:latin typeface="Calibri" pitchFamily="34" charset="0"/>
                <a:ea typeface="Calibri" pitchFamily="34" charset="-122"/>
                <a:cs typeface="Calibri" pitchFamily="34" charset="-120"/>
              </a:rPr>
              <a:t>Nothing is verified</a:t>
            </a:r>
            <a:endParaRPr lang="en-US" sz="1600" dirty="0"/>
          </a:p>
        </p:txBody>
      </p:sp>
      <p:sp>
        <p:nvSpPr>
          <p:cNvPr id="19" name="Text 17"/>
          <p:cNvSpPr txBox="1"/>
          <p:nvPr/>
        </p:nvSpPr>
        <p:spPr>
          <a:xfrm>
            <a:off x="1280160" y="5440680"/>
            <a:ext cx="5669280" cy="640080"/>
          </a:xfrm>
          <a:prstGeom prst="rect">
            <a:avLst/>
          </a:prstGeom>
          <a:noFill/>
          <a:ln/>
        </p:spPr>
        <p:txBody>
          <a:bodyPr wrap="square" lIns="0" tIns="0" rIns="0" bIns="0" rtlCol="0" anchor="ctr"/>
          <a:lstStyle/>
          <a:p>
            <a:pPr indent="0" marL="0">
              <a:buNone/>
            </a:pPr>
            <a:r>
              <a:rPr lang="en-US" sz="1300" dirty="0">
                <a:solidFill>
                  <a:srgbClr val="5C6570"/>
                </a:solidFill>
                <a:latin typeface="Calibri" pitchFamily="34" charset="0"/>
                <a:ea typeface="Calibri" pitchFamily="34" charset="-122"/>
                <a:cs typeface="Calibri" pitchFamily="34" charset="-120"/>
              </a:rPr>
              <a:t>The model is checked by reading it. A wrong sign in a construction draw survives until someone notices the equity.</a:t>
            </a:r>
            <a:endParaRPr lang="en-US" sz="1300" dirty="0"/>
          </a:p>
        </p:txBody>
      </p:sp>
      <p:sp>
        <p:nvSpPr>
          <p:cNvPr id="20" name="Shape 18"/>
          <p:cNvSpPr/>
          <p:nvPr/>
        </p:nvSpPr>
        <p:spPr>
          <a:xfrm>
            <a:off x="7498080" y="2103120"/>
            <a:ext cx="4023360" cy="1828800"/>
          </a:xfrm>
          <a:prstGeom prst="rect">
            <a:avLst/>
          </a:prstGeom>
          <a:solidFill>
            <a:srgbClr val="E6EDEF"/>
          </a:solidFill>
          <a:ln w="12700">
            <a:solidFill>
              <a:srgbClr val="E6EDEF"/>
            </a:solidFill>
            <a:prstDash val="solid"/>
          </a:ln>
        </p:spPr>
      </p:sp>
      <p:sp>
        <p:nvSpPr>
          <p:cNvPr id="21" name="Text 19"/>
          <p:cNvSpPr txBox="1"/>
          <p:nvPr/>
        </p:nvSpPr>
        <p:spPr>
          <a:xfrm>
            <a:off x="7726680" y="2240280"/>
            <a:ext cx="3566160" cy="1554480"/>
          </a:xfrm>
          <a:prstGeom prst="rect">
            <a:avLst/>
          </a:prstGeom>
          <a:noFill/>
          <a:ln/>
        </p:spPr>
        <p:txBody>
          <a:bodyPr wrap="square" lIns="0" tIns="0" rIns="0" bIns="0" rtlCol="0" anchor="ctr"/>
          <a:lstStyle/>
          <a:p>
            <a:pPr indent="0" marL="0">
              <a:buNone/>
            </a:pPr>
            <a:r>
              <a:rPr lang="en-US" sz="1400" i="1" dirty="0">
                <a:solidFill>
                  <a:srgbClr val="1F4E5F"/>
                </a:solidFill>
                <a:latin typeface="Cambria" pitchFamily="34" charset="0"/>
                <a:ea typeface="Cambria" pitchFamily="34" charset="-122"/>
                <a:cs typeface="Cambria" pitchFamily="34" charset="-120"/>
              </a:rPr>
              <a:t>A model should be a document: readable, diffable, and checkable against something other than itself.</a:t>
            </a:r>
            <a:endParaRPr lang="en-US" sz="1400" dirty="0"/>
          </a:p>
        </p:txBody>
      </p:sp>
      <p:sp>
        <p:nvSpPr>
          <p:cNvPr id="22" name="Text 20"/>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23" name="Text 21"/>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WHAT CFDL IS</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The model is the document</a:t>
            </a:r>
            <a:endParaRPr lang="en-US" sz="3000" dirty="0"/>
          </a:p>
        </p:txBody>
      </p:sp>
      <p:sp>
        <p:nvSpPr>
          <p:cNvPr id="4" name="Text 2"/>
          <p:cNvSpPr txBox="1"/>
          <p:nvPr/>
        </p:nvSpPr>
        <p:spPr>
          <a:xfrm>
            <a:off x="640080" y="1828800"/>
            <a:ext cx="5120640" cy="1554480"/>
          </a:xfrm>
          <a:prstGeom prst="rect">
            <a:avLst/>
          </a:prstGeom>
          <a:noFill/>
          <a:ln/>
        </p:spPr>
        <p:txBody>
          <a:bodyPr wrap="square" lIns="0" tIns="0" rIns="0" bIns="0" rtlCol="0" anchor="t"/>
          <a:lstStyle/>
          <a:p>
            <a:pPr indent="0" marL="0">
              <a:spcAft>
                <a:spcPts val="600"/>
              </a:spcAft>
              <a:buNone/>
            </a:pPr>
            <a:r>
              <a:rPr lang="en-US" sz="1500" dirty="0">
                <a:solidFill>
                  <a:srgbClr val="191C1F"/>
                </a:solidFill>
                <a:latin typeface="Calibri" pitchFamily="34" charset="0"/>
                <a:ea typeface="Calibri" pitchFamily="34" charset="-122"/>
                <a:cs typeface="Calibri" pitchFamily="34" charset="-120"/>
              </a:rPr>
              <a:t>CFDL is a language for cash-flowing assets. A model is a page of text that keeps time, structure and behavior apart. The compiler turns it into a deterministic record; the engine runs it. Same inputs, same version: byte-identical output.</a:t>
            </a:r>
            <a:endParaRPr lang="en-US" sz="1500" dirty="0"/>
          </a:p>
        </p:txBody>
      </p:sp>
      <p:sp>
        <p:nvSpPr>
          <p:cNvPr id="5" name="Text 3"/>
          <p:cNvSpPr txBox="1"/>
          <p:nvPr/>
        </p:nvSpPr>
        <p:spPr>
          <a:xfrm>
            <a:off x="640080" y="3383280"/>
            <a:ext cx="5120640" cy="1188720"/>
          </a:xfrm>
          <a:prstGeom prst="rect">
            <a:avLst/>
          </a:prstGeom>
          <a:noFill/>
          <a:ln/>
        </p:spPr>
        <p:txBody>
          <a:bodyPr wrap="square" lIns="0" tIns="0" rIns="0" bIns="0" rtlCol="0" anchor="t"/>
          <a:lstStyle/>
          <a:p>
            <a:pPr indent="0" marL="0">
              <a:spcAft>
                <a:spcPts val="600"/>
              </a:spcAft>
              <a:buNone/>
            </a:pPr>
            <a:r>
              <a:rPr lang="en-US" sz="1500" dirty="0">
                <a:solidFill>
                  <a:srgbClr val="191C1F"/>
                </a:solidFill>
                <a:latin typeface="Calibri" pitchFamily="34" charset="0"/>
                <a:ea typeface="Calibri" pitchFamily="34" charset="-122"/>
                <a:cs typeface="Calibri" pitchFamily="34" charset="-120"/>
              </a:rPr>
              <a:t>Every published case is diffed, period by period, against an independent reference: a workbook, a public exhibit, a textbook answer. The numbers are verified, not asserted.</a:t>
            </a:r>
            <a:endParaRPr lang="en-US" sz="1500" dirty="0"/>
          </a:p>
        </p:txBody>
      </p:sp>
      <p:sp>
        <p:nvSpPr>
          <p:cNvPr id="6" name="Shape 4"/>
          <p:cNvSpPr/>
          <p:nvPr/>
        </p:nvSpPr>
        <p:spPr>
          <a:xfrm>
            <a:off x="640080" y="4709160"/>
            <a:ext cx="1600200" cy="1554480"/>
          </a:xfrm>
          <a:prstGeom prst="rect">
            <a:avLst/>
          </a:prstGeom>
          <a:solidFill>
            <a:srgbClr val="F2F0EC"/>
          </a:solidFill>
          <a:ln w="12700">
            <a:solidFill>
              <a:srgbClr val="F2F0EC"/>
            </a:solidFill>
            <a:prstDash val="solid"/>
          </a:ln>
        </p:spPr>
      </p:sp>
      <p:sp>
        <p:nvSpPr>
          <p:cNvPr id="7" name="Text 5"/>
          <p:cNvSpPr txBox="1"/>
          <p:nvPr/>
        </p:nvSpPr>
        <p:spPr>
          <a:xfrm>
            <a:off x="822960" y="4846320"/>
            <a:ext cx="1234440" cy="731520"/>
          </a:xfrm>
          <a:prstGeom prst="rect">
            <a:avLst/>
          </a:prstGeom>
          <a:noFill/>
          <a:ln/>
        </p:spPr>
        <p:txBody>
          <a:bodyPr wrap="square" lIns="0" tIns="0" rIns="0" bIns="0" rtlCol="0" anchor="ctr"/>
          <a:lstStyle/>
          <a:p>
            <a:pPr indent="0" marL="0">
              <a:buNone/>
            </a:pPr>
            <a:r>
              <a:rPr lang="en-US" sz="3000" dirty="0">
                <a:solidFill>
                  <a:srgbClr val="1F4E5F"/>
                </a:solidFill>
                <a:latin typeface="Cambria" pitchFamily="34" charset="0"/>
                <a:ea typeface="Cambria" pitchFamily="34" charset="-122"/>
                <a:cs typeface="Cambria" pitchFamily="34" charset="-120"/>
              </a:rPr>
              <a:t>40</a:t>
            </a:r>
            <a:endParaRPr lang="en-US" sz="3000" dirty="0"/>
          </a:p>
        </p:txBody>
      </p:sp>
      <p:sp>
        <p:nvSpPr>
          <p:cNvPr id="8" name="Text 6"/>
          <p:cNvSpPr txBox="1"/>
          <p:nvPr/>
        </p:nvSpPr>
        <p:spPr>
          <a:xfrm>
            <a:off x="822960" y="5577840"/>
            <a:ext cx="1234440" cy="640080"/>
          </a:xfrm>
          <a:prstGeom prst="rect">
            <a:avLst/>
          </a:prstGeom>
          <a:noFill/>
          <a:ln/>
        </p:spPr>
        <p:txBody>
          <a:bodyPr wrap="square" lIns="0" tIns="0" rIns="0" bIns="0" rtlCol="0" anchor="t"/>
          <a:lstStyle/>
          <a:p>
            <a:pPr indent="0" marL="0">
              <a:buNone/>
            </a:pPr>
            <a:r>
              <a:rPr lang="en-US" sz="1100" dirty="0">
                <a:solidFill>
                  <a:srgbClr val="5C6570"/>
                </a:solidFill>
                <a:latin typeface="Calibri" pitchFamily="34" charset="0"/>
                <a:ea typeface="Calibri" pitchFamily="34" charset="-122"/>
                <a:cs typeface="Calibri" pitchFamily="34" charset="-120"/>
              </a:rPr>
              <a:t>published cases</a:t>
            </a:r>
            <a:endParaRPr lang="en-US" sz="1100" dirty="0"/>
          </a:p>
        </p:txBody>
      </p:sp>
      <p:sp>
        <p:nvSpPr>
          <p:cNvPr id="9" name="Shape 7"/>
          <p:cNvSpPr/>
          <p:nvPr/>
        </p:nvSpPr>
        <p:spPr>
          <a:xfrm>
            <a:off x="2377440" y="4709160"/>
            <a:ext cx="1600200" cy="1554480"/>
          </a:xfrm>
          <a:prstGeom prst="rect">
            <a:avLst/>
          </a:prstGeom>
          <a:solidFill>
            <a:srgbClr val="F2F0EC"/>
          </a:solidFill>
          <a:ln w="12700">
            <a:solidFill>
              <a:srgbClr val="F2F0EC"/>
            </a:solidFill>
            <a:prstDash val="solid"/>
          </a:ln>
        </p:spPr>
      </p:sp>
      <p:sp>
        <p:nvSpPr>
          <p:cNvPr id="10" name="Text 8"/>
          <p:cNvSpPr txBox="1"/>
          <p:nvPr/>
        </p:nvSpPr>
        <p:spPr>
          <a:xfrm>
            <a:off x="2560320" y="4846320"/>
            <a:ext cx="1234440" cy="731520"/>
          </a:xfrm>
          <a:prstGeom prst="rect">
            <a:avLst/>
          </a:prstGeom>
          <a:noFill/>
          <a:ln/>
        </p:spPr>
        <p:txBody>
          <a:bodyPr wrap="square" lIns="0" tIns="0" rIns="0" bIns="0" rtlCol="0" anchor="ctr"/>
          <a:lstStyle/>
          <a:p>
            <a:pPr indent="0" marL="0">
              <a:buNone/>
            </a:pPr>
            <a:r>
              <a:rPr lang="en-US" sz="3000" dirty="0">
                <a:solidFill>
                  <a:srgbClr val="1F4E5F"/>
                </a:solidFill>
                <a:latin typeface="Cambria" pitchFamily="34" charset="0"/>
                <a:ea typeface="Cambria" pitchFamily="34" charset="-122"/>
                <a:cs typeface="Cambria" pitchFamily="34" charset="-120"/>
              </a:rPr>
              <a:t>304</a:t>
            </a:r>
            <a:endParaRPr lang="en-US" sz="3000" dirty="0"/>
          </a:p>
        </p:txBody>
      </p:sp>
      <p:sp>
        <p:nvSpPr>
          <p:cNvPr id="11" name="Text 9"/>
          <p:cNvSpPr txBox="1"/>
          <p:nvPr/>
        </p:nvSpPr>
        <p:spPr>
          <a:xfrm>
            <a:off x="2560320" y="5577840"/>
            <a:ext cx="1234440" cy="640080"/>
          </a:xfrm>
          <a:prstGeom prst="rect">
            <a:avLst/>
          </a:prstGeom>
          <a:noFill/>
          <a:ln/>
        </p:spPr>
        <p:txBody>
          <a:bodyPr wrap="square" lIns="0" tIns="0" rIns="0" bIns="0" rtlCol="0" anchor="t"/>
          <a:lstStyle/>
          <a:p>
            <a:pPr indent="0" marL="0">
              <a:buNone/>
            </a:pPr>
            <a:r>
              <a:rPr lang="en-US" sz="1100" dirty="0">
                <a:solidFill>
                  <a:srgbClr val="5C6570"/>
                </a:solidFill>
                <a:latin typeface="Calibri" pitchFamily="34" charset="0"/>
                <a:ea typeface="Calibri" pitchFamily="34" charset="-122"/>
                <a:cs typeface="Calibri" pitchFamily="34" charset="-120"/>
              </a:rPr>
              <a:t>golden fixtures</a:t>
            </a:r>
            <a:endParaRPr lang="en-US" sz="1100" dirty="0"/>
          </a:p>
        </p:txBody>
      </p:sp>
      <p:sp>
        <p:nvSpPr>
          <p:cNvPr id="12" name="Shape 10"/>
          <p:cNvSpPr/>
          <p:nvPr/>
        </p:nvSpPr>
        <p:spPr>
          <a:xfrm>
            <a:off x="4114800" y="4709160"/>
            <a:ext cx="1645920" cy="1554480"/>
          </a:xfrm>
          <a:prstGeom prst="rect">
            <a:avLst/>
          </a:prstGeom>
          <a:solidFill>
            <a:srgbClr val="F2F0EC"/>
          </a:solidFill>
          <a:ln w="12700">
            <a:solidFill>
              <a:srgbClr val="F2F0EC"/>
            </a:solidFill>
            <a:prstDash val="solid"/>
          </a:ln>
        </p:spPr>
      </p:sp>
      <p:sp>
        <p:nvSpPr>
          <p:cNvPr id="13" name="Text 11"/>
          <p:cNvSpPr txBox="1"/>
          <p:nvPr/>
        </p:nvSpPr>
        <p:spPr>
          <a:xfrm>
            <a:off x="4297680" y="4846320"/>
            <a:ext cx="1280160" cy="731520"/>
          </a:xfrm>
          <a:prstGeom prst="rect">
            <a:avLst/>
          </a:prstGeom>
          <a:noFill/>
          <a:ln/>
        </p:spPr>
        <p:txBody>
          <a:bodyPr wrap="square" lIns="0" tIns="0" rIns="0" bIns="0" rtlCol="0" anchor="ctr"/>
          <a:lstStyle/>
          <a:p>
            <a:pPr indent="0" marL="0">
              <a:buNone/>
            </a:pPr>
            <a:r>
              <a:rPr lang="en-US" sz="3000" dirty="0">
                <a:solidFill>
                  <a:srgbClr val="1F4E5F"/>
                </a:solidFill>
                <a:latin typeface="Cambria" pitchFamily="34" charset="0"/>
                <a:ea typeface="Cambria" pitchFamily="34" charset="-122"/>
                <a:cs typeface="Cambria" pitchFamily="34" charset="-120"/>
              </a:rPr>
              <a:t>4</a:t>
            </a:r>
            <a:endParaRPr lang="en-US" sz="3000" dirty="0"/>
          </a:p>
        </p:txBody>
      </p:sp>
      <p:sp>
        <p:nvSpPr>
          <p:cNvPr id="14" name="Text 12"/>
          <p:cNvSpPr txBox="1"/>
          <p:nvPr/>
        </p:nvSpPr>
        <p:spPr>
          <a:xfrm>
            <a:off x="4297680" y="5577840"/>
            <a:ext cx="1280160" cy="640080"/>
          </a:xfrm>
          <a:prstGeom prst="rect">
            <a:avLst/>
          </a:prstGeom>
          <a:noFill/>
          <a:ln/>
        </p:spPr>
        <p:txBody>
          <a:bodyPr wrap="square" lIns="0" tIns="0" rIns="0" bIns="0" rtlCol="0" anchor="t"/>
          <a:lstStyle/>
          <a:p>
            <a:pPr indent="0" marL="0">
              <a:buNone/>
            </a:pPr>
            <a:r>
              <a:rPr lang="en-US" sz="1100" dirty="0">
                <a:solidFill>
                  <a:srgbClr val="5C6570"/>
                </a:solidFill>
                <a:latin typeface="Calibri" pitchFamily="34" charset="0"/>
                <a:ea typeface="Calibri" pitchFamily="34" charset="-122"/>
                <a:cs typeface="Calibri" pitchFamily="34" charset="-120"/>
              </a:rPr>
              <a:t>domain packs</a:t>
            </a:r>
            <a:endParaRPr lang="en-US" sz="1100" dirty="0"/>
          </a:p>
        </p:txBody>
      </p:sp>
      <p:sp>
        <p:nvSpPr>
          <p:cNvPr id="15" name="Shape 13"/>
          <p:cNvSpPr/>
          <p:nvPr/>
        </p:nvSpPr>
        <p:spPr>
          <a:xfrm>
            <a:off x="6217920" y="1828800"/>
            <a:ext cx="5349240" cy="4297680"/>
          </a:xfrm>
          <a:prstGeom prst="rect">
            <a:avLst/>
          </a:prstGeom>
          <a:solidFill>
            <a:srgbClr val="1A1E22"/>
          </a:solidFill>
          <a:ln w="12700">
            <a:solidFill>
              <a:srgbClr val="1A1E22"/>
            </a:solidFill>
            <a:prstDash val="solid"/>
          </a:ln>
        </p:spPr>
      </p:sp>
      <p:sp>
        <p:nvSpPr>
          <p:cNvPr id="16" name="Text 14"/>
          <p:cNvSpPr txBox="1"/>
          <p:nvPr/>
        </p:nvSpPr>
        <p:spPr>
          <a:xfrm>
            <a:off x="6446520" y="2011680"/>
            <a:ext cx="4892040" cy="3931920"/>
          </a:xfrm>
          <a:prstGeom prst="rect">
            <a:avLst/>
          </a:prstGeom>
          <a:noFill/>
          <a:ln/>
        </p:spPr>
        <p:txBody>
          <a:bodyPr wrap="square" lIns="0" tIns="0" rIns="0" bIns="0" rtlCol="0" anchor="t"/>
          <a:lstStyle/>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entity asset facility : Asset.Financial {</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  equity_funded init min(inputs.equity_commitment,</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                         curve_value("dev_cost_cum", time.date))</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  interest      init 0.0</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                next prev.asset.facility.balance</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                     * inputs.loan_rate / 12.0</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  balance       init max(0.0, curve_value("dev_cost", time.date)</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                            - inputs.equity_commitment)</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                next ...</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a:t>
            </a:r>
            <a:endParaRPr lang="en-US" sz="1150" dirty="0"/>
          </a:p>
          <a:p>
            <a:pPr indent="0" marL="0">
              <a:lnSpc>
                <a:spcPct val="115000"/>
              </a:lnSpc>
              <a:buNone/>
            </a:pP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stream cre.loan_interest on entity container.project outflow {</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  schedule every month start from 2018-04 to 2024-12</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  category financing.debt.interest_paid</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  amount = asset.facility.interest</a:t>
            </a:r>
            <a:endParaRPr lang="en-US" sz="1150" dirty="0"/>
          </a:p>
          <a:p>
            <a:pPr indent="0" marL="0">
              <a:lnSpc>
                <a:spcPct val="115000"/>
              </a:lnSpc>
              <a:buNone/>
            </a:pPr>
            <a:r>
              <a:rPr lang="en-US" sz="1150" dirty="0">
                <a:solidFill>
                  <a:srgbClr val="E8E6E2"/>
                </a:solidFill>
                <a:latin typeface="Courier New" pitchFamily="34" charset="0"/>
                <a:ea typeface="Courier New" pitchFamily="34" charset="-122"/>
                <a:cs typeface="Courier New" pitchFamily="34" charset="-120"/>
              </a:rPr>
              <a:t>}</a:t>
            </a:r>
            <a:endParaRPr lang="en-US" sz="1150" dirty="0"/>
          </a:p>
        </p:txBody>
      </p:sp>
      <p:sp>
        <p:nvSpPr>
          <p:cNvPr id="17" name="Text 15"/>
          <p:cNvSpPr txBox="1"/>
          <p:nvPr/>
        </p:nvSpPr>
        <p:spPr>
          <a:xfrm>
            <a:off x="6217920" y="6144768"/>
            <a:ext cx="5349240" cy="365760"/>
          </a:xfrm>
          <a:prstGeom prst="rect">
            <a:avLst/>
          </a:prstGeom>
          <a:noFill/>
          <a:ln/>
        </p:spPr>
        <p:txBody>
          <a:bodyPr wrap="square" lIns="0" tIns="0" rIns="0" bIns="0" rtlCol="0" anchor="ctr"/>
          <a:lstStyle/>
          <a:p>
            <a:pPr indent="0" marL="0">
              <a:buNone/>
            </a:pPr>
            <a:r>
              <a:rPr lang="en-US" sz="950" dirty="0">
                <a:solidFill>
                  <a:srgbClr val="5C6570"/>
                </a:solidFill>
                <a:latin typeface="Calibri" pitchFamily="34" charset="0"/>
                <a:ea typeface="Calibri" pitchFamily="34" charset="-122"/>
                <a:cs typeface="Calibri" pitchFamily="34" charset="-120"/>
              </a:rPr>
              <a:t>A construction facility, from The Highlands model: equity first, then draws, with interest capitalized. Every month resolves from the one before it.</a:t>
            </a:r>
            <a:endParaRPr lang="en-US" sz="950" dirty="0"/>
          </a:p>
        </p:txBody>
      </p:sp>
      <p:sp>
        <p:nvSpPr>
          <p:cNvPr id="18" name="Text 16"/>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19" name="Text 17"/>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WHAT IT CAN EXPRESS</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The mechanics of a real estate deal, as language</a:t>
            </a:r>
            <a:endParaRPr lang="en-US" sz="3000" dirty="0"/>
          </a:p>
        </p:txBody>
      </p:sp>
      <p:sp>
        <p:nvSpPr>
          <p:cNvPr id="4" name="Shape 2"/>
          <p:cNvSpPr/>
          <p:nvPr/>
        </p:nvSpPr>
        <p:spPr>
          <a:xfrm>
            <a:off x="640080" y="1874520"/>
            <a:ext cx="3520440" cy="1965960"/>
          </a:xfrm>
          <a:prstGeom prst="rect">
            <a:avLst/>
          </a:prstGeom>
          <a:solidFill>
            <a:srgbClr val="F2F0EC"/>
          </a:solidFill>
          <a:ln w="12700">
            <a:solidFill>
              <a:srgbClr val="F2F0EC"/>
            </a:solidFill>
            <a:prstDash val="solid"/>
          </a:ln>
        </p:spPr>
      </p:sp>
      <p:sp>
        <p:nvSpPr>
          <p:cNvPr id="5" name="Text 3"/>
          <p:cNvSpPr txBox="1"/>
          <p:nvPr/>
        </p:nvSpPr>
        <p:spPr>
          <a:xfrm>
            <a:off x="868680" y="2057400"/>
            <a:ext cx="3063240" cy="365760"/>
          </a:xfrm>
          <a:prstGeom prst="rect">
            <a:avLst/>
          </a:prstGeom>
          <a:noFill/>
          <a:ln/>
        </p:spPr>
        <p:txBody>
          <a:bodyPr wrap="square" lIns="0" tIns="0" rIns="0" bIns="0" rtlCol="0" anchor="ctr"/>
          <a:lstStyle/>
          <a:p>
            <a:pPr indent="0" marL="0">
              <a:buNone/>
            </a:pPr>
            <a:r>
              <a:rPr lang="en-US" sz="1700" dirty="0">
                <a:solidFill>
                  <a:srgbClr val="1F4E5F"/>
                </a:solidFill>
                <a:latin typeface="Cambria" pitchFamily="34" charset="0"/>
                <a:ea typeface="Cambria" pitchFamily="34" charset="-122"/>
                <a:cs typeface="Cambria" pitchFamily="34" charset="-120"/>
              </a:rPr>
              <a:t>Leases, one by one</a:t>
            </a:r>
            <a:endParaRPr lang="en-US" sz="1700" dirty="0"/>
          </a:p>
        </p:txBody>
      </p:sp>
      <p:sp>
        <p:nvSpPr>
          <p:cNvPr id="6" name="Text 4"/>
          <p:cNvSpPr txBox="1"/>
          <p:nvPr/>
        </p:nvSpPr>
        <p:spPr>
          <a:xfrm>
            <a:off x="868680" y="2468880"/>
            <a:ext cx="3063240" cy="1280160"/>
          </a:xfrm>
          <a:prstGeom prst="rect">
            <a:avLst/>
          </a:prstGeom>
          <a:noFill/>
          <a:ln/>
        </p:spPr>
        <p:txBody>
          <a:bodyPr wrap="square" lIns="0" tIns="0" rIns="0" bIns="0" rtlCol="0" anchor="t"/>
          <a:lstStyle/>
          <a:p>
            <a:pPr indent="0" marL="0">
              <a:buNone/>
            </a:pPr>
            <a:r>
              <a:rPr lang="en-US" sz="1250" dirty="0">
                <a:solidFill>
                  <a:srgbClr val="191C1F"/>
                </a:solidFill>
                <a:latin typeface="Calibri" pitchFamily="34" charset="0"/>
                <a:ea typeface="Calibri" pitchFamily="34" charset="-122"/>
                <a:cs typeface="Calibri" pitchFamily="34" charset="-120"/>
              </a:rPr>
              <a:t>Free rent, escalations, expense stops, TI and LC, probability-weighted rollover, downtime. Every period inside a cent of the reference.</a:t>
            </a:r>
            <a:endParaRPr lang="en-US" sz="1250" dirty="0"/>
          </a:p>
        </p:txBody>
      </p:sp>
      <p:sp>
        <p:nvSpPr>
          <p:cNvPr id="7" name="Shape 5"/>
          <p:cNvSpPr/>
          <p:nvPr/>
        </p:nvSpPr>
        <p:spPr>
          <a:xfrm>
            <a:off x="4343400" y="1874520"/>
            <a:ext cx="3520440" cy="1965960"/>
          </a:xfrm>
          <a:prstGeom prst="rect">
            <a:avLst/>
          </a:prstGeom>
          <a:solidFill>
            <a:srgbClr val="F2F0EC"/>
          </a:solidFill>
          <a:ln w="12700">
            <a:solidFill>
              <a:srgbClr val="F2F0EC"/>
            </a:solidFill>
            <a:prstDash val="solid"/>
          </a:ln>
        </p:spPr>
      </p:sp>
      <p:sp>
        <p:nvSpPr>
          <p:cNvPr id="8" name="Text 6"/>
          <p:cNvSpPr txBox="1"/>
          <p:nvPr/>
        </p:nvSpPr>
        <p:spPr>
          <a:xfrm>
            <a:off x="4572000" y="2057400"/>
            <a:ext cx="3063240" cy="365760"/>
          </a:xfrm>
          <a:prstGeom prst="rect">
            <a:avLst/>
          </a:prstGeom>
          <a:noFill/>
          <a:ln/>
        </p:spPr>
        <p:txBody>
          <a:bodyPr wrap="square" lIns="0" tIns="0" rIns="0" bIns="0" rtlCol="0" anchor="ctr"/>
          <a:lstStyle/>
          <a:p>
            <a:pPr indent="0" marL="0">
              <a:buNone/>
            </a:pPr>
            <a:r>
              <a:rPr lang="en-US" sz="1700" dirty="0">
                <a:solidFill>
                  <a:srgbClr val="1F4E5F"/>
                </a:solidFill>
                <a:latin typeface="Cambria" pitchFamily="34" charset="0"/>
                <a:ea typeface="Cambria" pitchFamily="34" charset="-122"/>
                <a:cs typeface="Cambria" pitchFamily="34" charset="-120"/>
              </a:rPr>
              <a:t>Construction funding</a:t>
            </a:r>
            <a:endParaRPr lang="en-US" sz="1700" dirty="0"/>
          </a:p>
        </p:txBody>
      </p:sp>
      <p:sp>
        <p:nvSpPr>
          <p:cNvPr id="9" name="Text 7"/>
          <p:cNvSpPr txBox="1"/>
          <p:nvPr/>
        </p:nvSpPr>
        <p:spPr>
          <a:xfrm>
            <a:off x="4572000" y="2468880"/>
            <a:ext cx="3063240" cy="1280160"/>
          </a:xfrm>
          <a:prstGeom prst="rect">
            <a:avLst/>
          </a:prstGeom>
          <a:noFill/>
          <a:ln/>
        </p:spPr>
        <p:txBody>
          <a:bodyPr wrap="square" lIns="0" tIns="0" rIns="0" bIns="0" rtlCol="0" anchor="t"/>
          <a:lstStyle/>
          <a:p>
            <a:pPr indent="0" marL="0">
              <a:buNone/>
            </a:pPr>
            <a:r>
              <a:rPr lang="en-US" sz="1250" dirty="0">
                <a:solidFill>
                  <a:srgbClr val="191C1F"/>
                </a:solidFill>
                <a:latin typeface="Calibri" pitchFamily="34" charset="0"/>
                <a:ea typeface="Calibri" pitchFamily="34" charset="-122"/>
                <a:cs typeface="Calibri" pitchFamily="34" charset="-120"/>
              </a:rPr>
              <a:t>Equity first, then the facility. Capitalized interest ties to the dollar on One Lincoln Street.</a:t>
            </a:r>
            <a:endParaRPr lang="en-US" sz="1250" dirty="0"/>
          </a:p>
        </p:txBody>
      </p:sp>
      <p:sp>
        <p:nvSpPr>
          <p:cNvPr id="10" name="Shape 8"/>
          <p:cNvSpPr/>
          <p:nvPr/>
        </p:nvSpPr>
        <p:spPr>
          <a:xfrm>
            <a:off x="8046720" y="1874520"/>
            <a:ext cx="3520440" cy="1965960"/>
          </a:xfrm>
          <a:prstGeom prst="rect">
            <a:avLst/>
          </a:prstGeom>
          <a:solidFill>
            <a:srgbClr val="F2F0EC"/>
          </a:solidFill>
          <a:ln w="12700">
            <a:solidFill>
              <a:srgbClr val="F2F0EC"/>
            </a:solidFill>
            <a:prstDash val="solid"/>
          </a:ln>
        </p:spPr>
      </p:sp>
      <p:sp>
        <p:nvSpPr>
          <p:cNvPr id="11" name="Text 9"/>
          <p:cNvSpPr txBox="1"/>
          <p:nvPr/>
        </p:nvSpPr>
        <p:spPr>
          <a:xfrm>
            <a:off x="8275320" y="2057400"/>
            <a:ext cx="3063240" cy="365760"/>
          </a:xfrm>
          <a:prstGeom prst="rect">
            <a:avLst/>
          </a:prstGeom>
          <a:noFill/>
          <a:ln/>
        </p:spPr>
        <p:txBody>
          <a:bodyPr wrap="square" lIns="0" tIns="0" rIns="0" bIns="0" rtlCol="0" anchor="ctr"/>
          <a:lstStyle/>
          <a:p>
            <a:pPr indent="0" marL="0">
              <a:buNone/>
            </a:pPr>
            <a:r>
              <a:rPr lang="en-US" sz="1700" dirty="0">
                <a:solidFill>
                  <a:srgbClr val="1F4E5F"/>
                </a:solidFill>
                <a:latin typeface="Cambria" pitchFamily="34" charset="0"/>
                <a:ea typeface="Cambria" pitchFamily="34" charset="-122"/>
                <a:cs typeface="Cambria" pitchFamily="34" charset="-120"/>
              </a:rPr>
              <a:t>Debt</a:t>
            </a:r>
            <a:endParaRPr lang="en-US" sz="1700" dirty="0"/>
          </a:p>
        </p:txBody>
      </p:sp>
      <p:sp>
        <p:nvSpPr>
          <p:cNvPr id="12" name="Text 10"/>
          <p:cNvSpPr txBox="1"/>
          <p:nvPr/>
        </p:nvSpPr>
        <p:spPr>
          <a:xfrm>
            <a:off x="8275320" y="2468880"/>
            <a:ext cx="3063240" cy="1280160"/>
          </a:xfrm>
          <a:prstGeom prst="rect">
            <a:avLst/>
          </a:prstGeom>
          <a:noFill/>
          <a:ln/>
        </p:spPr>
        <p:txBody>
          <a:bodyPr wrap="square" lIns="0" tIns="0" rIns="0" bIns="0" rtlCol="0" anchor="t"/>
          <a:lstStyle/>
          <a:p>
            <a:pPr indent="0" marL="0">
              <a:buNone/>
            </a:pPr>
            <a:r>
              <a:rPr lang="en-US" sz="1250" dirty="0">
                <a:solidFill>
                  <a:srgbClr val="191C1F"/>
                </a:solidFill>
                <a:latin typeface="Calibri" pitchFamily="34" charset="0"/>
                <a:ea typeface="Calibri" pitchFamily="34" charset="-122"/>
                <a:cs typeface="Calibri" pitchFamily="34" charset="-120"/>
              </a:rPr>
              <a:t>Construction facilities retired from proceeds, permanent takeouts sized off value, balloons booked as reversion so coverage stays honest.</a:t>
            </a:r>
            <a:endParaRPr lang="en-US" sz="1250" dirty="0"/>
          </a:p>
        </p:txBody>
      </p:sp>
      <p:sp>
        <p:nvSpPr>
          <p:cNvPr id="13" name="Shape 11"/>
          <p:cNvSpPr/>
          <p:nvPr/>
        </p:nvSpPr>
        <p:spPr>
          <a:xfrm>
            <a:off x="640080" y="4023360"/>
            <a:ext cx="3520440" cy="1965960"/>
          </a:xfrm>
          <a:prstGeom prst="rect">
            <a:avLst/>
          </a:prstGeom>
          <a:solidFill>
            <a:srgbClr val="F2F0EC"/>
          </a:solidFill>
          <a:ln w="12700">
            <a:solidFill>
              <a:srgbClr val="F2F0EC"/>
            </a:solidFill>
            <a:prstDash val="solid"/>
          </a:ln>
        </p:spPr>
      </p:sp>
      <p:sp>
        <p:nvSpPr>
          <p:cNvPr id="14" name="Text 12"/>
          <p:cNvSpPr txBox="1"/>
          <p:nvPr/>
        </p:nvSpPr>
        <p:spPr>
          <a:xfrm>
            <a:off x="868680" y="4206240"/>
            <a:ext cx="3063240" cy="365760"/>
          </a:xfrm>
          <a:prstGeom prst="rect">
            <a:avLst/>
          </a:prstGeom>
          <a:noFill/>
          <a:ln/>
        </p:spPr>
        <p:txBody>
          <a:bodyPr wrap="square" lIns="0" tIns="0" rIns="0" bIns="0" rtlCol="0" anchor="ctr"/>
          <a:lstStyle/>
          <a:p>
            <a:pPr indent="0" marL="0">
              <a:buNone/>
            </a:pPr>
            <a:r>
              <a:rPr lang="en-US" sz="1700" dirty="0">
                <a:solidFill>
                  <a:srgbClr val="1F4E5F"/>
                </a:solidFill>
                <a:latin typeface="Cambria" pitchFamily="34" charset="0"/>
                <a:ea typeface="Cambria" pitchFamily="34" charset="-122"/>
                <a:cs typeface="Cambria" pitchFamily="34" charset="-120"/>
              </a:rPr>
              <a:t>The split</a:t>
            </a:r>
            <a:endParaRPr lang="en-US" sz="1700" dirty="0"/>
          </a:p>
        </p:txBody>
      </p:sp>
      <p:sp>
        <p:nvSpPr>
          <p:cNvPr id="15" name="Text 13"/>
          <p:cNvSpPr txBox="1"/>
          <p:nvPr/>
        </p:nvSpPr>
        <p:spPr>
          <a:xfrm>
            <a:off x="868680" y="4617720"/>
            <a:ext cx="3063240" cy="1280160"/>
          </a:xfrm>
          <a:prstGeom prst="rect">
            <a:avLst/>
          </a:prstGeom>
          <a:noFill/>
          <a:ln/>
        </p:spPr>
        <p:txBody>
          <a:bodyPr wrap="square" lIns="0" tIns="0" rIns="0" bIns="0" rtlCol="0" anchor="t"/>
          <a:lstStyle/>
          <a:p>
            <a:pPr indent="0" marL="0">
              <a:buNone/>
            </a:pPr>
            <a:r>
              <a:rPr lang="en-US" sz="1250" dirty="0">
                <a:solidFill>
                  <a:srgbClr val="191C1F"/>
                </a:solidFill>
                <a:latin typeface="Calibri" pitchFamily="34" charset="0"/>
                <a:ea typeface="Calibri" pitchFamily="34" charset="-122"/>
                <a:cs typeface="Calibri" pitchFamily="34" charset="-120"/>
              </a:rPr>
              <a:t>Capital accounts per partner, tiered waterfalls, preferred returns that compound, promotes, and a return measured on each partner's own cash.</a:t>
            </a:r>
            <a:endParaRPr lang="en-US" sz="1250" dirty="0"/>
          </a:p>
        </p:txBody>
      </p:sp>
      <p:sp>
        <p:nvSpPr>
          <p:cNvPr id="16" name="Shape 14"/>
          <p:cNvSpPr/>
          <p:nvPr/>
        </p:nvSpPr>
        <p:spPr>
          <a:xfrm>
            <a:off x="4343400" y="4023360"/>
            <a:ext cx="3520440" cy="1965960"/>
          </a:xfrm>
          <a:prstGeom prst="rect">
            <a:avLst/>
          </a:prstGeom>
          <a:solidFill>
            <a:srgbClr val="F2F0EC"/>
          </a:solidFill>
          <a:ln w="12700">
            <a:solidFill>
              <a:srgbClr val="F2F0EC"/>
            </a:solidFill>
            <a:prstDash val="solid"/>
          </a:ln>
        </p:spPr>
      </p:sp>
      <p:sp>
        <p:nvSpPr>
          <p:cNvPr id="17" name="Text 15"/>
          <p:cNvSpPr txBox="1"/>
          <p:nvPr/>
        </p:nvSpPr>
        <p:spPr>
          <a:xfrm>
            <a:off x="4572000" y="4206240"/>
            <a:ext cx="3063240" cy="365760"/>
          </a:xfrm>
          <a:prstGeom prst="rect">
            <a:avLst/>
          </a:prstGeom>
          <a:noFill/>
          <a:ln/>
        </p:spPr>
        <p:txBody>
          <a:bodyPr wrap="square" lIns="0" tIns="0" rIns="0" bIns="0" rtlCol="0" anchor="ctr"/>
          <a:lstStyle/>
          <a:p>
            <a:pPr indent="0" marL="0">
              <a:buNone/>
            </a:pPr>
            <a:r>
              <a:rPr lang="en-US" sz="1700" dirty="0">
                <a:solidFill>
                  <a:srgbClr val="1F4E5F"/>
                </a:solidFill>
                <a:latin typeface="Cambria" pitchFamily="34" charset="0"/>
                <a:ea typeface="Cambria" pitchFamily="34" charset="-122"/>
                <a:cs typeface="Cambria" pitchFamily="34" charset="-120"/>
              </a:rPr>
              <a:t>Scenarios</a:t>
            </a:r>
            <a:endParaRPr lang="en-US" sz="1700" dirty="0"/>
          </a:p>
        </p:txBody>
      </p:sp>
      <p:sp>
        <p:nvSpPr>
          <p:cNvPr id="18" name="Text 16"/>
          <p:cNvSpPr txBox="1"/>
          <p:nvPr/>
        </p:nvSpPr>
        <p:spPr>
          <a:xfrm>
            <a:off x="4572000" y="4617720"/>
            <a:ext cx="3063240" cy="1280160"/>
          </a:xfrm>
          <a:prstGeom prst="rect">
            <a:avLst/>
          </a:prstGeom>
          <a:noFill/>
          <a:ln/>
        </p:spPr>
        <p:txBody>
          <a:bodyPr wrap="square" lIns="0" tIns="0" rIns="0" bIns="0" rtlCol="0" anchor="t"/>
          <a:lstStyle/>
          <a:p>
            <a:pPr indent="0" marL="0">
              <a:buNone/>
            </a:pPr>
            <a:r>
              <a:rPr lang="en-US" sz="1250" dirty="0">
                <a:solidFill>
                  <a:srgbClr val="191C1F"/>
                </a:solidFill>
                <a:latin typeface="Calibri" pitchFamily="34" charset="0"/>
                <a:ea typeface="Calibri" pitchFamily="34" charset="-122"/>
                <a:cs typeface="Calibri" pitchFamily="34" charset="-120"/>
              </a:rPr>
              <a:t>One model, many runs. A strategy switch, a market factor, a downside, each a named run with its own asserted answer.</a:t>
            </a:r>
            <a:endParaRPr lang="en-US" sz="1250" dirty="0"/>
          </a:p>
        </p:txBody>
      </p:sp>
      <p:sp>
        <p:nvSpPr>
          <p:cNvPr id="19" name="Shape 17"/>
          <p:cNvSpPr/>
          <p:nvPr/>
        </p:nvSpPr>
        <p:spPr>
          <a:xfrm>
            <a:off x="8046720" y="4023360"/>
            <a:ext cx="3520440" cy="1965960"/>
          </a:xfrm>
          <a:prstGeom prst="rect">
            <a:avLst/>
          </a:prstGeom>
          <a:solidFill>
            <a:srgbClr val="F2F0EC"/>
          </a:solidFill>
          <a:ln w="12700">
            <a:solidFill>
              <a:srgbClr val="F2F0EC"/>
            </a:solidFill>
            <a:prstDash val="solid"/>
          </a:ln>
        </p:spPr>
      </p:sp>
      <p:sp>
        <p:nvSpPr>
          <p:cNvPr id="20" name="Text 18"/>
          <p:cNvSpPr txBox="1"/>
          <p:nvPr/>
        </p:nvSpPr>
        <p:spPr>
          <a:xfrm>
            <a:off x="8275320" y="4206240"/>
            <a:ext cx="3063240" cy="365760"/>
          </a:xfrm>
          <a:prstGeom prst="rect">
            <a:avLst/>
          </a:prstGeom>
          <a:noFill/>
          <a:ln/>
        </p:spPr>
        <p:txBody>
          <a:bodyPr wrap="square" lIns="0" tIns="0" rIns="0" bIns="0" rtlCol="0" anchor="ctr"/>
          <a:lstStyle/>
          <a:p>
            <a:pPr indent="0" marL="0">
              <a:buNone/>
            </a:pPr>
            <a:r>
              <a:rPr lang="en-US" sz="1700" dirty="0">
                <a:solidFill>
                  <a:srgbClr val="1F4E5F"/>
                </a:solidFill>
                <a:latin typeface="Cambria" pitchFamily="34" charset="0"/>
                <a:ea typeface="Cambria" pitchFamily="34" charset="-122"/>
                <a:cs typeface="Cambria" pitchFamily="34" charset="-120"/>
              </a:rPr>
              <a:t>Uncertainty</a:t>
            </a:r>
            <a:endParaRPr lang="en-US" sz="1700" dirty="0"/>
          </a:p>
        </p:txBody>
      </p:sp>
      <p:sp>
        <p:nvSpPr>
          <p:cNvPr id="21" name="Text 19"/>
          <p:cNvSpPr txBox="1"/>
          <p:nvPr/>
        </p:nvSpPr>
        <p:spPr>
          <a:xfrm>
            <a:off x="8275320" y="4617720"/>
            <a:ext cx="3063240" cy="1280160"/>
          </a:xfrm>
          <a:prstGeom prst="rect">
            <a:avLst/>
          </a:prstGeom>
          <a:noFill/>
          <a:ln/>
        </p:spPr>
        <p:txBody>
          <a:bodyPr wrap="square" lIns="0" tIns="0" rIns="0" bIns="0" rtlCol="0" anchor="t"/>
          <a:lstStyle/>
          <a:p>
            <a:pPr indent="0" marL="0">
              <a:buNone/>
            </a:pPr>
            <a:r>
              <a:rPr lang="en-US" sz="1250" dirty="0">
                <a:solidFill>
                  <a:srgbClr val="191C1F"/>
                </a:solidFill>
                <a:latin typeface="Calibri" pitchFamily="34" charset="0"/>
                <a:ea typeface="Calibri" pitchFamily="34" charset="-122"/>
                <a:cs typeface="Calibri" pitchFamily="34" charset="-120"/>
              </a:rPr>
              <a:t>Distributions on any input. A thousand trials, and the P5 to P95 band, not one blended number that no world produces.</a:t>
            </a:r>
            <a:endParaRPr lang="en-US" sz="1250" dirty="0"/>
          </a:p>
        </p:txBody>
      </p:sp>
      <p:sp>
        <p:nvSpPr>
          <p:cNvPr id="22" name="Text 20"/>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23" name="Text 21"/>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THE HIGHLANDS · SP #445</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A completed deal, rebuilt from the public record only</a:t>
            </a:r>
            <a:endParaRPr lang="en-US" sz="3000" dirty="0"/>
          </a:p>
        </p:txBody>
      </p:sp>
      <p:sp>
        <p:nvSpPr>
          <p:cNvPr id="4" name="Text 2"/>
          <p:cNvSpPr txBox="1"/>
          <p:nvPr/>
        </p:nvSpPr>
        <p:spPr>
          <a:xfrm>
            <a:off x="640080" y="1828800"/>
            <a:ext cx="5120640" cy="1463040"/>
          </a:xfrm>
          <a:prstGeom prst="rect">
            <a:avLst/>
          </a:prstGeom>
          <a:noFill/>
          <a:ln/>
        </p:spPr>
        <p:txBody>
          <a:bodyPr wrap="square" lIns="0" tIns="0" rIns="0" bIns="0" rtlCol="0" anchor="t"/>
          <a:lstStyle/>
          <a:p>
            <a:pPr indent="0" marL="0">
              <a:spcAft>
                <a:spcPts val="600"/>
              </a:spcAft>
              <a:buNone/>
            </a:pPr>
            <a:r>
              <a:rPr lang="en-US" sz="1400" dirty="0">
                <a:solidFill>
                  <a:srgbClr val="191C1F"/>
                </a:solidFill>
                <a:latin typeface="Calibri" pitchFamily="34" charset="0"/>
                <a:ea typeface="Calibri" pitchFamily="34" charset="-122"/>
                <a:cs typeface="Calibri" pitchFamily="34" charset="-120"/>
              </a:rPr>
              <a:t>Two towers over one podium, for-sale and rental product on a single construction basis, seven of twelve parcels ground-leased from the County, and in-kind public obligations that are pure cost. Land bought September 2011, a 39-month build, and a three-part exit.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3383280"/>
          <a:ext cx="5120640" cy="914400"/>
        </p:xfrm>
        <a:graphic>
          <a:graphicData uri="http://schemas.openxmlformats.org/drawingml/2006/table">
            <a:tbl>
              <a:tblPr/>
              <a:tblGrid>
                <a:gridCol w="1097280"/>
                <a:gridCol w="731520"/>
                <a:gridCol w="1097280"/>
                <a:gridCol w="2194560"/>
              </a:tblGrid>
              <a:tr h="310896">
                <a:tc>
                  <a:txBody>
                    <a:bodyPr/>
                    <a:lstStyle/>
                    <a:p>
                      <a:pPr algn="l" indent="0" marL="0">
                        <a:buNone/>
                      </a:pP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Units</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Tenure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Exit</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Pierce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104</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for sale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102 recorded closings</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Evo</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455</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rental</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$334,642,240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Aubrey</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331</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rental</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$266,455,000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bl>
          </a:graphicData>
        </a:graphic>
      </p:graphicFrame>
      <p:sp>
        <p:nvSpPr>
          <p:cNvPr id="6" name="Text 3"/>
          <p:cNvSpPr txBox="1"/>
          <p:nvPr/>
        </p:nvSpPr>
        <p:spPr>
          <a:xfrm>
            <a:off x="6217920" y="1828800"/>
            <a:ext cx="5303520" cy="320040"/>
          </a:xfrm>
          <a:prstGeom prst="rect">
            <a:avLst/>
          </a:prstGeom>
          <a:noFill/>
          <a:ln/>
        </p:spPr>
        <p:txBody>
          <a:bodyPr wrap="square" lIns="0" tIns="0" rIns="0" bIns="0" rtlCol="0" anchor="ctr"/>
          <a:lstStyle/>
          <a:p>
            <a:pPr indent="0" marL="0">
              <a:buNone/>
            </a:pPr>
            <a:r>
              <a:rPr lang="en-US" sz="1300" b="1" dirty="0">
                <a:solidFill>
                  <a:srgbClr val="3F6B4F"/>
                </a:solidFill>
                <a:latin typeface="Calibri" pitchFamily="34" charset="0"/>
                <a:ea typeface="Calibri" pitchFamily="34" charset="-122"/>
                <a:cs typeface="Calibri" pitchFamily="34" charset="-120"/>
              </a:rPr>
              <a:t>Sourced, from Arlington County</a:t>
            </a:r>
            <a:endParaRPr lang="en-US" sz="1300" dirty="0"/>
          </a:p>
        </p:txBody>
      </p:sp>
      <p:sp>
        <p:nvSpPr>
          <p:cNvPr id="7" name="Text 4"/>
          <p:cNvSpPr txBox="1"/>
          <p:nvPr/>
        </p:nvSpPr>
        <p:spPr>
          <a:xfrm>
            <a:off x="6217920" y="2194560"/>
            <a:ext cx="5303520" cy="1737360"/>
          </a:xfrm>
          <a:prstGeom prst="rect">
            <a:avLst/>
          </a:prstGeom>
          <a:noFill/>
          <a:ln/>
        </p:spPr>
        <p:txBody>
          <a:bodyPr wrap="square" lIns="0" tIns="0" rIns="0" bIns="0" rtlCol="0" anchor="t"/>
          <a:lstStyle/>
          <a:p>
            <a:pPr indent="0" marL="0">
              <a:spcAft>
                <a:spcPts val="600"/>
              </a:spcAft>
              <a:buNone/>
            </a:pPr>
            <a:r>
              <a:rPr lang="en-US" sz="1250" dirty="0">
                <a:solidFill>
                  <a:srgbClr val="191C1F"/>
                </a:solidFill>
                <a:latin typeface="Calibri" pitchFamily="34" charset="0"/>
                <a:ea typeface="Calibri" pitchFamily="34" charset="-122"/>
                <a:cs typeface="Calibri" pitchFamily="34" charset="-120"/>
              </a:rPr>
              <a:t>Program, unit mix, GFA, parking and the quantified obligations from the site plan record. The $67,000,000 land basis from the deed. All 102 condominium closings from the assessment roll. Both tower sale prices. The 5.15% guideline cap, $7,511 per unit expenses and 8% vacancy from the Commercial Guidebook. Rents solved back from each tower's assessed value at the County's own cap.</a:t>
            </a:r>
            <a:endParaRPr lang="en-US" sz="1250" dirty="0"/>
          </a:p>
        </p:txBody>
      </p:sp>
      <p:sp>
        <p:nvSpPr>
          <p:cNvPr id="8" name="Text 5"/>
          <p:cNvSpPr txBox="1"/>
          <p:nvPr/>
        </p:nvSpPr>
        <p:spPr>
          <a:xfrm>
            <a:off x="6217920" y="4023360"/>
            <a:ext cx="5303520" cy="320040"/>
          </a:xfrm>
          <a:prstGeom prst="rect">
            <a:avLst/>
          </a:prstGeom>
          <a:noFill/>
          <a:ln/>
        </p:spPr>
        <p:txBody>
          <a:bodyPr wrap="square" lIns="0" tIns="0" rIns="0" bIns="0" rtlCol="0" anchor="ctr"/>
          <a:lstStyle/>
          <a:p>
            <a:pPr indent="0" marL="0">
              <a:buNone/>
            </a:pPr>
            <a:r>
              <a:rPr lang="en-US" sz="1300" b="1" dirty="0">
                <a:solidFill>
                  <a:srgbClr val="8A5A1E"/>
                </a:solidFill>
                <a:latin typeface="Calibri" pitchFamily="34" charset="0"/>
                <a:ea typeface="Calibri" pitchFamily="34" charset="-122"/>
                <a:cs typeface="Calibri" pitchFamily="34" charset="-120"/>
              </a:rPr>
              <a:t>Assumed, and labeled as such</a:t>
            </a:r>
            <a:endParaRPr lang="en-US" sz="1300" dirty="0"/>
          </a:p>
        </p:txBody>
      </p:sp>
      <p:sp>
        <p:nvSpPr>
          <p:cNvPr id="9" name="Text 6"/>
          <p:cNvSpPr txBox="1"/>
          <p:nvPr/>
        </p:nvSpPr>
        <p:spPr>
          <a:xfrm>
            <a:off x="6217920" y="4389120"/>
            <a:ext cx="5303520" cy="1097280"/>
          </a:xfrm>
          <a:prstGeom prst="rect">
            <a:avLst/>
          </a:prstGeom>
          <a:noFill/>
          <a:ln/>
        </p:spPr>
        <p:txBody>
          <a:bodyPr wrap="square" lIns="0" tIns="0" rIns="0" bIns="0" rtlCol="0" anchor="t"/>
          <a:lstStyle/>
          <a:p>
            <a:pPr indent="0" marL="0">
              <a:spcAft>
                <a:spcPts val="600"/>
              </a:spcAft>
              <a:buNone/>
            </a:pPr>
            <a:r>
              <a:rPr lang="en-US" sz="1250" dirty="0">
                <a:solidFill>
                  <a:srgbClr val="191C1F"/>
                </a:solidFill>
                <a:latin typeface="Calibri" pitchFamily="34" charset="0"/>
                <a:ea typeface="Calibri" pitchFamily="34" charset="-122"/>
                <a:cs typeface="Calibri" pitchFamily="34" charset="-120"/>
              </a:rPr>
              <a:t>Construction cost, debt pricing, lease-up pace, and the partnership terms. Each is a stated placeholder in the model, and each is the kind of number only the people who built the deal can replace.</a:t>
            </a:r>
            <a:endParaRPr lang="en-US" sz="1250" dirty="0"/>
          </a:p>
        </p:txBody>
      </p:sp>
      <p:sp>
        <p:nvSpPr>
          <p:cNvPr id="10" name="Shape 7"/>
          <p:cNvSpPr/>
          <p:nvPr/>
        </p:nvSpPr>
        <p:spPr>
          <a:xfrm>
            <a:off x="640080" y="5029200"/>
            <a:ext cx="5120640" cy="1005840"/>
          </a:xfrm>
          <a:prstGeom prst="rect">
            <a:avLst/>
          </a:prstGeom>
          <a:solidFill>
            <a:srgbClr val="E6EDEF"/>
          </a:solidFill>
          <a:ln w="12700">
            <a:solidFill>
              <a:srgbClr val="E6EDEF"/>
            </a:solidFill>
            <a:prstDash val="solid"/>
          </a:ln>
        </p:spPr>
      </p:sp>
      <p:sp>
        <p:nvSpPr>
          <p:cNvPr id="11" name="Text 8"/>
          <p:cNvSpPr txBox="1"/>
          <p:nvPr/>
        </p:nvSpPr>
        <p:spPr>
          <a:xfrm>
            <a:off x="868680" y="5166360"/>
            <a:ext cx="4663440" cy="731520"/>
          </a:xfrm>
          <a:prstGeom prst="rect">
            <a:avLst/>
          </a:prstGeom>
          <a:noFill/>
          <a:ln/>
        </p:spPr>
        <p:txBody>
          <a:bodyPr wrap="square" lIns="0" tIns="0" rIns="0" bIns="0" rtlCol="0" anchor="ctr"/>
          <a:lstStyle/>
          <a:p>
            <a:pPr indent="0" marL="0">
              <a:buNone/>
            </a:pPr>
            <a:r>
              <a:rPr lang="en-US" sz="1400" i="1" dirty="0">
                <a:solidFill>
                  <a:srgbClr val="1F4E5F"/>
                </a:solidFill>
                <a:latin typeface="Cambria" pitchFamily="34" charset="0"/>
                <a:ea typeface="Cambria" pitchFamily="34" charset="-122"/>
                <a:cs typeface="Cambria" pitchFamily="34" charset="-120"/>
              </a:rPr>
              <a:t>Everything sourced says where it came from. Everything assumed says that it is assumed.</a:t>
            </a:r>
            <a:endParaRPr lang="en-US" sz="1400" dirty="0"/>
          </a:p>
        </p:txBody>
      </p:sp>
      <p:sp>
        <p:nvSpPr>
          <p:cNvPr id="12" name="Text 9"/>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13" name="Text 10"/>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THE HIGHLANDS · THE RESULT</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The facility ties to the independent workbook exactly</a:t>
            </a:r>
            <a:endParaRPr lang="en-US" sz="3000" dirty="0"/>
          </a:p>
        </p:txBody>
      </p:sp>
      <p:sp>
        <p:nvSpPr>
          <p:cNvPr id="4" name="Shape 2"/>
          <p:cNvSpPr/>
          <p:nvPr/>
        </p:nvSpPr>
        <p:spPr>
          <a:xfrm>
            <a:off x="640080" y="1874520"/>
            <a:ext cx="2651760" cy="1554480"/>
          </a:xfrm>
          <a:prstGeom prst="rect">
            <a:avLst/>
          </a:prstGeom>
          <a:solidFill>
            <a:srgbClr val="F2F0EC"/>
          </a:solidFill>
          <a:ln w="12700">
            <a:solidFill>
              <a:srgbClr val="F2F0EC"/>
            </a:solidFill>
            <a:prstDash val="solid"/>
          </a:ln>
        </p:spPr>
      </p:sp>
      <p:sp>
        <p:nvSpPr>
          <p:cNvPr id="5" name="Text 3"/>
          <p:cNvSpPr txBox="1"/>
          <p:nvPr/>
        </p:nvSpPr>
        <p:spPr>
          <a:xfrm>
            <a:off x="822960" y="2011680"/>
            <a:ext cx="2286000" cy="731520"/>
          </a:xfrm>
          <a:prstGeom prst="rect">
            <a:avLst/>
          </a:prstGeom>
          <a:noFill/>
          <a:ln/>
        </p:spPr>
        <p:txBody>
          <a:bodyPr wrap="square" lIns="0" tIns="0" rIns="0" bIns="0" rtlCol="0" anchor="ctr"/>
          <a:lstStyle/>
          <a:p>
            <a:pPr indent="0" marL="0">
              <a:buNone/>
            </a:pPr>
            <a:r>
              <a:rPr lang="en-US" sz="3000" dirty="0">
                <a:solidFill>
                  <a:srgbClr val="1F4E5F"/>
                </a:solidFill>
                <a:latin typeface="Cambria" pitchFamily="34" charset="0"/>
                <a:ea typeface="Cambria" pitchFamily="34" charset="-122"/>
                <a:cs typeface="Cambria" pitchFamily="34" charset="-120"/>
              </a:rPr>
              <a:t>$370.4M</a:t>
            </a:r>
            <a:endParaRPr lang="en-US" sz="3000" dirty="0"/>
          </a:p>
        </p:txBody>
      </p:sp>
      <p:sp>
        <p:nvSpPr>
          <p:cNvPr id="6" name="Text 4"/>
          <p:cNvSpPr txBox="1"/>
          <p:nvPr/>
        </p:nvSpPr>
        <p:spPr>
          <a:xfrm>
            <a:off x="822960" y="2743200"/>
            <a:ext cx="2286000" cy="640080"/>
          </a:xfrm>
          <a:prstGeom prst="rect">
            <a:avLst/>
          </a:prstGeom>
          <a:noFill/>
          <a:ln/>
        </p:spPr>
        <p:txBody>
          <a:bodyPr wrap="square" lIns="0" tIns="0" rIns="0" bIns="0" rtlCol="0" anchor="t"/>
          <a:lstStyle/>
          <a:p>
            <a:pPr indent="0" marL="0">
              <a:buNone/>
            </a:pPr>
            <a:r>
              <a:rPr lang="en-US" sz="1100" dirty="0">
                <a:solidFill>
                  <a:srgbClr val="5C6570"/>
                </a:solidFill>
                <a:latin typeface="Calibri" pitchFamily="34" charset="0"/>
                <a:ea typeface="Calibri" pitchFamily="34" charset="-122"/>
                <a:cs typeface="Calibri" pitchFamily="34" charset="-120"/>
              </a:rPr>
              <a:t>peak construction debt</a:t>
            </a:r>
            <a:endParaRPr lang="en-US" sz="1100" dirty="0"/>
          </a:p>
        </p:txBody>
      </p:sp>
      <p:sp>
        <p:nvSpPr>
          <p:cNvPr id="7" name="Shape 5"/>
          <p:cNvSpPr/>
          <p:nvPr/>
        </p:nvSpPr>
        <p:spPr>
          <a:xfrm>
            <a:off x="3474720" y="1874520"/>
            <a:ext cx="2651760" cy="1554480"/>
          </a:xfrm>
          <a:prstGeom prst="rect">
            <a:avLst/>
          </a:prstGeom>
          <a:solidFill>
            <a:srgbClr val="F2F0EC"/>
          </a:solidFill>
          <a:ln w="12700">
            <a:solidFill>
              <a:srgbClr val="F2F0EC"/>
            </a:solidFill>
            <a:prstDash val="solid"/>
          </a:ln>
        </p:spPr>
      </p:sp>
      <p:sp>
        <p:nvSpPr>
          <p:cNvPr id="8" name="Text 6"/>
          <p:cNvSpPr txBox="1"/>
          <p:nvPr/>
        </p:nvSpPr>
        <p:spPr>
          <a:xfrm>
            <a:off x="3657600" y="2011680"/>
            <a:ext cx="2286000" cy="731520"/>
          </a:xfrm>
          <a:prstGeom prst="rect">
            <a:avLst/>
          </a:prstGeom>
          <a:noFill/>
          <a:ln/>
        </p:spPr>
        <p:txBody>
          <a:bodyPr wrap="square" lIns="0" tIns="0" rIns="0" bIns="0" rtlCol="0" anchor="ctr"/>
          <a:lstStyle/>
          <a:p>
            <a:pPr indent="0" marL="0">
              <a:buNone/>
            </a:pPr>
            <a:r>
              <a:rPr lang="en-US" sz="3000" dirty="0">
                <a:solidFill>
                  <a:srgbClr val="1F4E5F"/>
                </a:solidFill>
                <a:latin typeface="Cambria" pitchFamily="34" charset="0"/>
                <a:ea typeface="Cambria" pitchFamily="34" charset="-122"/>
                <a:cs typeface="Cambria" pitchFamily="34" charset="-120"/>
              </a:rPr>
              <a:t>$48.4M</a:t>
            </a:r>
            <a:endParaRPr lang="en-US" sz="3000" dirty="0"/>
          </a:p>
        </p:txBody>
      </p:sp>
      <p:sp>
        <p:nvSpPr>
          <p:cNvPr id="9" name="Text 7"/>
          <p:cNvSpPr txBox="1"/>
          <p:nvPr/>
        </p:nvSpPr>
        <p:spPr>
          <a:xfrm>
            <a:off x="3657600" y="2743200"/>
            <a:ext cx="2286000" cy="640080"/>
          </a:xfrm>
          <a:prstGeom prst="rect">
            <a:avLst/>
          </a:prstGeom>
          <a:noFill/>
          <a:ln/>
        </p:spPr>
        <p:txBody>
          <a:bodyPr wrap="square" lIns="0" tIns="0" rIns="0" bIns="0" rtlCol="0" anchor="t"/>
          <a:lstStyle/>
          <a:p>
            <a:pPr indent="0" marL="0">
              <a:buNone/>
            </a:pPr>
            <a:r>
              <a:rPr lang="en-US" sz="1100" dirty="0">
                <a:solidFill>
                  <a:srgbClr val="5C6570"/>
                </a:solidFill>
                <a:latin typeface="Calibri" pitchFamily="34" charset="0"/>
                <a:ea typeface="Calibri" pitchFamily="34" charset="-122"/>
                <a:cs typeface="Calibri" pitchFamily="34" charset="-120"/>
              </a:rPr>
              <a:t>capitalized interest, to the cent</a:t>
            </a:r>
            <a:endParaRPr lang="en-US" sz="1100" dirty="0"/>
          </a:p>
        </p:txBody>
      </p:sp>
      <p:sp>
        <p:nvSpPr>
          <p:cNvPr id="10" name="Shape 8"/>
          <p:cNvSpPr/>
          <p:nvPr/>
        </p:nvSpPr>
        <p:spPr>
          <a:xfrm>
            <a:off x="6309360" y="1874520"/>
            <a:ext cx="2651760" cy="1554480"/>
          </a:xfrm>
          <a:prstGeom prst="rect">
            <a:avLst/>
          </a:prstGeom>
          <a:solidFill>
            <a:srgbClr val="F2F0EC"/>
          </a:solidFill>
          <a:ln w="12700">
            <a:solidFill>
              <a:srgbClr val="F2F0EC"/>
            </a:solidFill>
            <a:prstDash val="solid"/>
          </a:ln>
        </p:spPr>
      </p:sp>
      <p:sp>
        <p:nvSpPr>
          <p:cNvPr id="11" name="Text 9"/>
          <p:cNvSpPr txBox="1"/>
          <p:nvPr/>
        </p:nvSpPr>
        <p:spPr>
          <a:xfrm>
            <a:off x="6492240" y="2011680"/>
            <a:ext cx="2286000" cy="731520"/>
          </a:xfrm>
          <a:prstGeom prst="rect">
            <a:avLst/>
          </a:prstGeom>
          <a:noFill/>
          <a:ln/>
        </p:spPr>
        <p:txBody>
          <a:bodyPr wrap="square" lIns="0" tIns="0" rIns="0" bIns="0" rtlCol="0" anchor="ctr"/>
          <a:lstStyle/>
          <a:p>
            <a:pPr indent="0" marL="0">
              <a:buNone/>
            </a:pPr>
            <a:r>
              <a:rPr lang="en-US" sz="3000" dirty="0">
                <a:solidFill>
                  <a:srgbClr val="1F4E5F"/>
                </a:solidFill>
                <a:latin typeface="Cambria" pitchFamily="34" charset="0"/>
                <a:ea typeface="Cambria" pitchFamily="34" charset="-122"/>
                <a:cs typeface="Cambria" pitchFamily="34" charset="-120"/>
              </a:rPr>
              <a:t>11.02%</a:t>
            </a:r>
            <a:endParaRPr lang="en-US" sz="3000" dirty="0"/>
          </a:p>
        </p:txBody>
      </p:sp>
      <p:sp>
        <p:nvSpPr>
          <p:cNvPr id="12" name="Text 10"/>
          <p:cNvSpPr txBox="1"/>
          <p:nvPr/>
        </p:nvSpPr>
        <p:spPr>
          <a:xfrm>
            <a:off x="6492240" y="2743200"/>
            <a:ext cx="2286000" cy="640080"/>
          </a:xfrm>
          <a:prstGeom prst="rect">
            <a:avLst/>
          </a:prstGeom>
          <a:noFill/>
          <a:ln/>
        </p:spPr>
        <p:txBody>
          <a:bodyPr wrap="square" lIns="0" tIns="0" rIns="0" bIns="0" rtlCol="0" anchor="t"/>
          <a:lstStyle/>
          <a:p>
            <a:pPr indent="0" marL="0">
              <a:buNone/>
            </a:pPr>
            <a:r>
              <a:rPr lang="en-US" sz="1100" dirty="0">
                <a:solidFill>
                  <a:srgbClr val="5C6570"/>
                </a:solidFill>
                <a:latin typeface="Calibri" pitchFamily="34" charset="0"/>
                <a:ea typeface="Calibri" pitchFamily="34" charset="-122"/>
                <a:cs typeface="Calibri" pitchFamily="34" charset="-120"/>
              </a:rPr>
              <a:t>levered return over the hold</a:t>
            </a:r>
            <a:endParaRPr lang="en-US" sz="1100" dirty="0"/>
          </a:p>
        </p:txBody>
      </p:sp>
      <p:sp>
        <p:nvSpPr>
          <p:cNvPr id="13" name="Shape 11"/>
          <p:cNvSpPr/>
          <p:nvPr/>
        </p:nvSpPr>
        <p:spPr>
          <a:xfrm>
            <a:off x="9144000" y="1874520"/>
            <a:ext cx="2404872" cy="1554480"/>
          </a:xfrm>
          <a:prstGeom prst="rect">
            <a:avLst/>
          </a:prstGeom>
          <a:solidFill>
            <a:srgbClr val="F2F0EC"/>
          </a:solidFill>
          <a:ln w="12700">
            <a:solidFill>
              <a:srgbClr val="F2F0EC"/>
            </a:solidFill>
            <a:prstDash val="solid"/>
          </a:ln>
        </p:spPr>
      </p:sp>
      <p:sp>
        <p:nvSpPr>
          <p:cNvPr id="14" name="Text 12"/>
          <p:cNvSpPr txBox="1"/>
          <p:nvPr/>
        </p:nvSpPr>
        <p:spPr>
          <a:xfrm>
            <a:off x="9326880" y="2011680"/>
            <a:ext cx="2039112" cy="731520"/>
          </a:xfrm>
          <a:prstGeom prst="rect">
            <a:avLst/>
          </a:prstGeom>
          <a:noFill/>
          <a:ln/>
        </p:spPr>
        <p:txBody>
          <a:bodyPr wrap="square" lIns="0" tIns="0" rIns="0" bIns="0" rtlCol="0" anchor="ctr"/>
          <a:lstStyle/>
          <a:p>
            <a:pPr indent="0" marL="0">
              <a:buNone/>
            </a:pPr>
            <a:r>
              <a:rPr lang="en-US" sz="3000" dirty="0">
                <a:solidFill>
                  <a:srgbClr val="1F4E5F"/>
                </a:solidFill>
                <a:latin typeface="Cambria" pitchFamily="34" charset="0"/>
                <a:ea typeface="Cambria" pitchFamily="34" charset="-122"/>
                <a:cs typeface="Cambria" pitchFamily="34" charset="-120"/>
              </a:rPr>
              <a:t>2.05x</a:t>
            </a:r>
            <a:endParaRPr lang="en-US" sz="3000" dirty="0"/>
          </a:p>
        </p:txBody>
      </p:sp>
      <p:sp>
        <p:nvSpPr>
          <p:cNvPr id="15" name="Text 13"/>
          <p:cNvSpPr txBox="1"/>
          <p:nvPr/>
        </p:nvSpPr>
        <p:spPr>
          <a:xfrm>
            <a:off x="9326880" y="2743200"/>
            <a:ext cx="2039112" cy="640080"/>
          </a:xfrm>
          <a:prstGeom prst="rect">
            <a:avLst/>
          </a:prstGeom>
          <a:noFill/>
          <a:ln/>
        </p:spPr>
        <p:txBody>
          <a:bodyPr wrap="square" lIns="0" tIns="0" rIns="0" bIns="0" rtlCol="0" anchor="t"/>
          <a:lstStyle/>
          <a:p>
            <a:pPr indent="0" marL="0">
              <a:buNone/>
            </a:pPr>
            <a:r>
              <a:rPr lang="en-US" sz="1100" dirty="0">
                <a:solidFill>
                  <a:srgbClr val="5C6570"/>
                </a:solidFill>
                <a:latin typeface="Calibri" pitchFamily="34" charset="0"/>
                <a:ea typeface="Calibri" pitchFamily="34" charset="-122"/>
                <a:cs typeface="Calibri" pitchFamily="34" charset="-120"/>
              </a:rPr>
              <a:t>multiple on invested capital</a:t>
            </a:r>
            <a:endParaRPr lang="en-US" sz="1100" dirty="0"/>
          </a:p>
        </p:txBody>
      </p:sp>
      <p:sp>
        <p:nvSpPr>
          <p:cNvPr id="16" name="Text 14"/>
          <p:cNvSpPr txBox="1"/>
          <p:nvPr/>
        </p:nvSpPr>
        <p:spPr>
          <a:xfrm>
            <a:off x="640080" y="3611880"/>
            <a:ext cx="6766560" cy="1554480"/>
          </a:xfrm>
          <a:prstGeom prst="rect">
            <a:avLst/>
          </a:prstGeom>
          <a:noFill/>
          <a:ln/>
        </p:spPr>
        <p:txBody>
          <a:bodyPr wrap="square" lIns="0" tIns="0" rIns="0" bIns="0" rtlCol="0" anchor="t"/>
          <a:lstStyle/>
          <a:p>
            <a:pPr indent="0" marL="0">
              <a:spcAft>
                <a:spcPts val="600"/>
              </a:spcAft>
              <a:buNone/>
            </a:pPr>
            <a:r>
              <a:rPr lang="en-US" sz="1400" dirty="0">
                <a:solidFill>
                  <a:srgbClr val="191C1F"/>
                </a:solidFill>
                <a:latin typeface="Calibri" pitchFamily="34" charset="0"/>
                <a:ea typeface="Calibri" pitchFamily="34" charset="-122"/>
                <a:cs typeface="Calibri" pitchFamily="34" charset="-120"/>
              </a:rPr>
              <a:t>The engine and an independent spreadsheet read the same frozen inputs and tie by construction, not by transcription. The return agrees to the sixth decimal. Every month is asserted, not only the lifetime totals, because placing cash at the close of a period instead of the open moves the return from 11.02% to 11.15% while every total stays the same.</a:t>
            </a:r>
            <a:endParaRPr lang="en-US" sz="1400" dirty="0"/>
          </a:p>
        </p:txBody>
      </p:sp>
      <p:sp>
        <p:nvSpPr>
          <p:cNvPr id="17" name="Text 15"/>
          <p:cNvSpPr txBox="1"/>
          <p:nvPr/>
        </p:nvSpPr>
        <p:spPr>
          <a:xfrm>
            <a:off x="640080" y="5120640"/>
            <a:ext cx="6766560" cy="914400"/>
          </a:xfrm>
          <a:prstGeom prst="rect">
            <a:avLst/>
          </a:prstGeom>
          <a:noFill/>
          <a:ln/>
        </p:spPr>
        <p:txBody>
          <a:bodyPr wrap="square" lIns="0" tIns="0" rIns="0" bIns="0" rtlCol="0" anchor="t"/>
          <a:lstStyle/>
          <a:p>
            <a:pPr indent="0" marL="0">
              <a:spcAft>
                <a:spcPts val="600"/>
              </a:spcAft>
              <a:buNone/>
            </a:pPr>
            <a:r>
              <a:rPr lang="en-US" sz="1400" dirty="0">
                <a:solidFill>
                  <a:srgbClr val="191C1F"/>
                </a:solidFill>
                <a:latin typeface="Calibri" pitchFamily="34" charset="0"/>
                <a:ea typeface="Calibri" pitchFamily="34" charset="-122"/>
                <a:cs typeface="Calibri" pitchFamily="34" charset="-120"/>
              </a:rPr>
              <a:t>Both towers sold in lease-up in May 2022, a year after delivery. The model carries the ramp rather than a stabilized year, because that is what happened.</a:t>
            </a:r>
            <a:endParaRPr lang="en-US" sz="1400" dirty="0"/>
          </a:p>
        </p:txBody>
      </p:sp>
      <p:sp>
        <p:nvSpPr>
          <p:cNvPr id="18" name="Shape 16"/>
          <p:cNvSpPr/>
          <p:nvPr/>
        </p:nvSpPr>
        <p:spPr>
          <a:xfrm>
            <a:off x="7863840" y="3611880"/>
            <a:ext cx="3657600" cy="2468880"/>
          </a:xfrm>
          <a:prstGeom prst="rect">
            <a:avLst/>
          </a:prstGeom>
          <a:solidFill>
            <a:srgbClr val="F2F0EC"/>
          </a:solidFill>
          <a:ln w="12700">
            <a:solidFill>
              <a:srgbClr val="F2F0EC"/>
            </a:solidFill>
            <a:prstDash val="solid"/>
          </a:ln>
        </p:spPr>
      </p:sp>
      <p:sp>
        <p:nvSpPr>
          <p:cNvPr id="19" name="Text 17"/>
          <p:cNvSpPr txBox="1"/>
          <p:nvPr/>
        </p:nvSpPr>
        <p:spPr>
          <a:xfrm>
            <a:off x="8092440" y="3749040"/>
            <a:ext cx="3200400" cy="320040"/>
          </a:xfrm>
          <a:prstGeom prst="rect">
            <a:avLst/>
          </a:prstGeom>
          <a:noFill/>
          <a:ln/>
        </p:spPr>
        <p:txBody>
          <a:bodyPr wrap="square" lIns="0" tIns="0" rIns="0" bIns="0" rtlCol="0" anchor="ctr"/>
          <a:lstStyle/>
          <a:p>
            <a:pPr indent="0" marL="0">
              <a:buNone/>
            </a:pPr>
            <a:r>
              <a:rPr lang="en-US" sz="1600" dirty="0">
                <a:solidFill>
                  <a:srgbClr val="1F4E5F"/>
                </a:solidFill>
                <a:latin typeface="Cambria" pitchFamily="34" charset="0"/>
                <a:ea typeface="Cambria" pitchFamily="34" charset="-122"/>
                <a:cs typeface="Cambria" pitchFamily="34" charset="-120"/>
              </a:rPr>
              <a:t>Why no NPV</a:t>
            </a:r>
            <a:endParaRPr lang="en-US" sz="1600" dirty="0"/>
          </a:p>
        </p:txBody>
      </p:sp>
      <p:sp>
        <p:nvSpPr>
          <p:cNvPr id="20" name="Text 18"/>
          <p:cNvSpPr txBox="1"/>
          <p:nvPr/>
        </p:nvSpPr>
        <p:spPr>
          <a:xfrm>
            <a:off x="8092440" y="4114800"/>
            <a:ext cx="3200400" cy="1828800"/>
          </a:xfrm>
          <a:prstGeom prst="rect">
            <a:avLst/>
          </a:prstGeom>
          <a:noFill/>
          <a:ln/>
        </p:spPr>
        <p:txBody>
          <a:bodyPr wrap="square" lIns="0" tIns="0" rIns="0" bIns="0" rtlCol="0" anchor="t"/>
          <a:lstStyle/>
          <a:p>
            <a:pPr indent="0" marL="0">
              <a:buNone/>
            </a:pPr>
            <a:r>
              <a:rPr lang="en-US" sz="1200" dirty="0">
                <a:solidFill>
                  <a:srgbClr val="191C1F"/>
                </a:solidFill>
                <a:latin typeface="Calibri" pitchFamily="34" charset="0"/>
                <a:ea typeface="Calibri" pitchFamily="34" charset="-122"/>
                <a:cs typeface="Calibri" pitchFamily="34" charset="-120"/>
              </a:rPr>
              <a:t>The deal is financed, so any present value is levered and needs a cost of equity. No source states one. Across nine rates the NPV swings from +$84M to −$46M while the return and the multiple do not move, because they are solved from the cash.</a:t>
            </a:r>
            <a:endParaRPr lang="en-US" sz="1200" dirty="0"/>
          </a:p>
        </p:txBody>
      </p:sp>
      <p:sp>
        <p:nvSpPr>
          <p:cNvPr id="21" name="Text 19"/>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22" name="Text 20"/>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THE HIGHLANDS · THE SPLIT</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What each partner receives, on placeholder terms</a:t>
            </a:r>
            <a:endParaRPr lang="en-US" sz="3000" dirty="0"/>
          </a:p>
        </p:txBody>
      </p:sp>
      <p:sp>
        <p:nvSpPr>
          <p:cNvPr id="4" name="Text 2"/>
          <p:cNvSpPr txBox="1"/>
          <p:nvPr/>
        </p:nvSpPr>
        <p:spPr>
          <a:xfrm>
            <a:off x="640080" y="1828800"/>
            <a:ext cx="5394960" cy="1371600"/>
          </a:xfrm>
          <a:prstGeom prst="rect">
            <a:avLst/>
          </a:prstGeom>
          <a:noFill/>
          <a:ln/>
        </p:spPr>
        <p:txBody>
          <a:bodyPr wrap="square" lIns="0" tIns="0" rIns="0" bIns="0" rtlCol="0" anchor="t"/>
          <a:lstStyle/>
          <a:p>
            <a:pPr indent="0" marL="0">
              <a:spcAft>
                <a:spcPts val="600"/>
              </a:spcAft>
              <a:buNone/>
            </a:pPr>
            <a:r>
              <a:rPr lang="en-US" sz="1350" dirty="0">
                <a:solidFill>
                  <a:srgbClr val="191C1F"/>
                </a:solidFill>
                <a:latin typeface="Calibri" pitchFamily="34" charset="0"/>
                <a:ea typeface="Calibri" pitchFamily="34" charset="-122"/>
                <a:cs typeface="Calibri" pitchFamily="34" charset="-120"/>
              </a:rPr>
              <a:t>Contributions move each partner's capital account on the dates the facility draws equity. Cash accrues to the venture and is split once, at the last condominium closing in June 2024, through seven tiers. The distribution allocates exactly what the venture holds and leaves nothing behind.</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3337560"/>
          <a:ext cx="5394960" cy="914400"/>
        </p:xfrm>
        <a:graphic>
          <a:graphicData uri="http://schemas.openxmlformats.org/drawingml/2006/table">
            <a:tbl>
              <a:tblPr/>
              <a:tblGrid>
                <a:gridCol w="2103120"/>
                <a:gridCol w="1737360"/>
                <a:gridCol w="1554480"/>
              </a:tblGrid>
              <a:tr h="310896">
                <a:tc>
                  <a:txBody>
                    <a:bodyPr/>
                    <a:lstStyle/>
                    <a:p>
                      <a:pPr algn="l" indent="0" marL="0">
                        <a:buNone/>
                      </a:pP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The Baupost Group</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Penzance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Share of capital</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Contributed</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167,620,753</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18,624,528</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Distributed</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328,472,612</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54,134,181</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Share of profit</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81.9%</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18.1%</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Multiple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1.96x</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2.91x</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Return</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8.12%</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12.76%</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492240" y="1828800"/>
            <a:ext cx="5029200" cy="320040"/>
          </a:xfrm>
          <a:prstGeom prst="rect">
            <a:avLst/>
          </a:prstGeom>
          <a:noFill/>
          <a:ln/>
        </p:spPr>
        <p:txBody>
          <a:bodyPr wrap="square" lIns="0" tIns="0" rIns="0" bIns="0" rtlCol="0" anchor="ctr"/>
          <a:lstStyle/>
          <a:p>
            <a:pPr indent="0" marL="0">
              <a:buNone/>
            </a:pPr>
            <a:r>
              <a:rPr lang="en-US" sz="1600" dirty="0">
                <a:solidFill>
                  <a:srgbClr val="1F4E5F"/>
                </a:solidFill>
                <a:latin typeface="Cambria" pitchFamily="34" charset="0"/>
                <a:ea typeface="Cambria" pitchFamily="34" charset="-122"/>
                <a:cs typeface="Cambria" pitchFamily="34" charset="-120"/>
              </a:rPr>
              <a:t>The tiers</a:t>
            </a:r>
            <a:endParaRPr lang="en-US" sz="16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92240" y="2240280"/>
          <a:ext cx="5029200" cy="914400"/>
        </p:xfrm>
        <a:graphic>
          <a:graphicData uri="http://schemas.openxmlformats.org/drawingml/2006/table">
            <a:tbl>
              <a:tblPr/>
              <a:tblGrid>
                <a:gridCol w="1554480"/>
                <a:gridCol w="1645920"/>
                <a:gridCol w="1828800"/>
              </a:tblGrid>
              <a:tr h="310896">
                <a:tc>
                  <a:txBody>
                    <a:bodyPr/>
                    <a:lstStyle/>
                    <a:p>
                      <a:pPr algn="l" indent="0" marL="0">
                        <a:buNone/>
                      </a:pPr>
                      <a:r>
                        <a:rPr lang="en-US" sz="1200" b="1" dirty="0">
                          <a:solidFill>
                            <a:srgbClr val="5C6570"/>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Paid to</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Amount</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Capital</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both, pro rata</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186,245,281</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8% preference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both, pro rata</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108,175,391</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20% promote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Penzance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17,637,224</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Residual</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90 / 10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70,548,897</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bl>
          </a:graphicData>
        </a:graphic>
      </p:graphicFrame>
      <p:sp>
        <p:nvSpPr>
          <p:cNvPr id="8" name="Shape 4"/>
          <p:cNvSpPr/>
          <p:nvPr/>
        </p:nvSpPr>
        <p:spPr>
          <a:xfrm>
            <a:off x="6492240" y="4206240"/>
            <a:ext cx="5029200" cy="1463040"/>
          </a:xfrm>
          <a:prstGeom prst="rect">
            <a:avLst/>
          </a:prstGeom>
          <a:solidFill>
            <a:srgbClr val="E6EDEF"/>
          </a:solidFill>
          <a:ln w="12700">
            <a:solidFill>
              <a:srgbClr val="E6EDEF"/>
            </a:solidFill>
            <a:prstDash val="solid"/>
          </a:ln>
        </p:spPr>
      </p:sp>
      <p:sp>
        <p:nvSpPr>
          <p:cNvPr id="9" name="Text 5"/>
          <p:cNvSpPr txBox="1"/>
          <p:nvPr/>
        </p:nvSpPr>
        <p:spPr>
          <a:xfrm>
            <a:off x="6720840" y="4343400"/>
            <a:ext cx="4572000" cy="1188720"/>
          </a:xfrm>
          <a:prstGeom prst="rect">
            <a:avLst/>
          </a:prstGeom>
          <a:noFill/>
          <a:ln/>
        </p:spPr>
        <p:txBody>
          <a:bodyPr wrap="square" lIns="0" tIns="0" rIns="0" bIns="0" rtlCol="0" anchor="ctr"/>
          <a:lstStyle/>
          <a:p>
            <a:pPr indent="0" marL="0">
              <a:buNone/>
            </a:pPr>
            <a:r>
              <a:rPr lang="en-US" sz="1400" i="1" dirty="0">
                <a:solidFill>
                  <a:srgbClr val="1F4E5F"/>
                </a:solidFill>
                <a:latin typeface="Cambria" pitchFamily="34" charset="0"/>
                <a:ea typeface="Cambria" pitchFamily="34" charset="-122"/>
                <a:cs typeface="Cambria" pitchFamily="34" charset="-120"/>
              </a:rPr>
              <a:t>The parties are real. The 8% preference, 90/10 split and 20% promote are not; they stand in for terms in no public source. Replacing three rates recomputes every figure on this slide.</a:t>
            </a:r>
            <a:endParaRPr lang="en-US" sz="1400" dirty="0"/>
          </a:p>
        </p:txBody>
      </p:sp>
      <p:sp>
        <p:nvSpPr>
          <p:cNvPr id="10" name="Text 6"/>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11" name="Text 7"/>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ONE ROSSLYN · SP #419</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The inverse case: the program is fact, the economics are forecast</a:t>
            </a:r>
            <a:endParaRPr lang="en-US" sz="3000" dirty="0"/>
          </a:p>
        </p:txBody>
      </p:sp>
      <p:sp>
        <p:nvSpPr>
          <p:cNvPr id="4" name="Text 2"/>
          <p:cNvSpPr txBox="1"/>
          <p:nvPr/>
        </p:nvSpPr>
        <p:spPr>
          <a:xfrm>
            <a:off x="640080" y="1828800"/>
            <a:ext cx="5394960" cy="1645920"/>
          </a:xfrm>
          <a:prstGeom prst="rect">
            <a:avLst/>
          </a:prstGeom>
          <a:noFill/>
          <a:ln/>
        </p:spPr>
        <p:txBody>
          <a:bodyPr wrap="square" lIns="0" tIns="0" rIns="0" bIns="0" rtlCol="0" anchor="t"/>
          <a:lstStyle/>
          <a:p>
            <a:pPr indent="0" marL="0">
              <a:spcAft>
                <a:spcPts val="600"/>
              </a:spcAft>
              <a:buNone/>
            </a:pPr>
            <a:r>
              <a:rPr lang="en-US" sz="1350" dirty="0">
                <a:solidFill>
                  <a:srgbClr val="191C1F"/>
                </a:solidFill>
                <a:latin typeface="Calibri" pitchFamily="34" charset="0"/>
                <a:ea typeface="Calibri" pitchFamily="34" charset="-122"/>
                <a:cs typeface="Calibri" pitchFamily="34" charset="-120"/>
              </a:rPr>
              <a:t>Three towers over one podium, 845 units, entitled July 2025 and unbuilt. Land recorded November 2023 at $52,000,000, which is 13.6% below the County's own guideline basis for the rental units. The affordable-housing obligations are timed to each tower's certificate of occupancy, so their timing is entitlement fact.</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3611880"/>
          <a:ext cx="5394960" cy="914400"/>
        </p:xfrm>
        <a:graphic>
          <a:graphicData uri="http://schemas.openxmlformats.org/drawingml/2006/table">
            <a:tbl>
              <a:tblPr/>
              <a:tblGrid>
                <a:gridCol w="1554480"/>
                <a:gridCol w="1097280"/>
                <a:gridCol w="1188720"/>
                <a:gridCol w="1554480"/>
              </a:tblGrid>
              <a:tr h="310896">
                <a:tc>
                  <a:txBody>
                    <a:bodyPr/>
                    <a:lstStyle/>
                    <a:p>
                      <a:pPr algn="l" indent="0" marL="0">
                        <a:buNone/>
                      </a:pP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Units</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Stories</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Tenure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NE Tower</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73</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for sale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NW Tower</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311</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rental</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S Tower</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461</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rental</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bl>
          </a:graphicData>
        </a:graphic>
      </p:graphicFrame>
      <p:sp>
        <p:nvSpPr>
          <p:cNvPr id="6" name="Shape 3"/>
          <p:cNvSpPr/>
          <p:nvPr/>
        </p:nvSpPr>
        <p:spPr>
          <a:xfrm>
            <a:off x="6492240" y="1828800"/>
            <a:ext cx="2423160" cy="1554480"/>
          </a:xfrm>
          <a:prstGeom prst="rect">
            <a:avLst/>
          </a:prstGeom>
          <a:solidFill>
            <a:srgbClr val="F2F0EC"/>
          </a:solidFill>
          <a:ln w="12700">
            <a:solidFill>
              <a:srgbClr val="F2F0EC"/>
            </a:solidFill>
            <a:prstDash val="solid"/>
          </a:ln>
        </p:spPr>
      </p:sp>
      <p:sp>
        <p:nvSpPr>
          <p:cNvPr id="7" name="Text 4"/>
          <p:cNvSpPr txBox="1"/>
          <p:nvPr/>
        </p:nvSpPr>
        <p:spPr>
          <a:xfrm>
            <a:off x="6675120" y="1965960"/>
            <a:ext cx="2057400" cy="731520"/>
          </a:xfrm>
          <a:prstGeom prst="rect">
            <a:avLst/>
          </a:prstGeom>
          <a:noFill/>
          <a:ln/>
        </p:spPr>
        <p:txBody>
          <a:bodyPr wrap="square" lIns="0" tIns="0" rIns="0" bIns="0" rtlCol="0" anchor="ctr"/>
          <a:lstStyle/>
          <a:p>
            <a:pPr indent="0" marL="0">
              <a:buNone/>
            </a:pPr>
            <a:r>
              <a:rPr lang="en-US" sz="3000" dirty="0">
                <a:solidFill>
                  <a:srgbClr val="1F4E5F"/>
                </a:solidFill>
                <a:latin typeface="Cambria" pitchFamily="34" charset="0"/>
                <a:ea typeface="Cambria" pitchFamily="34" charset="-122"/>
                <a:cs typeface="Cambria" pitchFamily="34" charset="-120"/>
              </a:rPr>
              <a:t>$3,789</a:t>
            </a:r>
            <a:endParaRPr lang="en-US" sz="3000" dirty="0"/>
          </a:p>
        </p:txBody>
      </p:sp>
      <p:sp>
        <p:nvSpPr>
          <p:cNvPr id="8" name="Text 5"/>
          <p:cNvSpPr txBox="1"/>
          <p:nvPr/>
        </p:nvSpPr>
        <p:spPr>
          <a:xfrm>
            <a:off x="6675120" y="2697480"/>
            <a:ext cx="2057400" cy="640080"/>
          </a:xfrm>
          <a:prstGeom prst="rect">
            <a:avLst/>
          </a:prstGeom>
          <a:noFill/>
          <a:ln/>
        </p:spPr>
        <p:txBody>
          <a:bodyPr wrap="square" lIns="0" tIns="0" rIns="0" bIns="0" rtlCol="0" anchor="t"/>
          <a:lstStyle/>
          <a:p>
            <a:pPr indent="0" marL="0">
              <a:buNone/>
            </a:pPr>
            <a:r>
              <a:rPr lang="en-US" sz="1100" dirty="0">
                <a:solidFill>
                  <a:srgbClr val="5C6570"/>
                </a:solidFill>
                <a:latin typeface="Calibri" pitchFamily="34" charset="0"/>
                <a:ea typeface="Calibri" pitchFamily="34" charset="-122"/>
                <a:cs typeface="Calibri" pitchFamily="34" charset="-120"/>
              </a:rPr>
              <a:t>rent per unit per month, derived by the County's method</a:t>
            </a:r>
            <a:endParaRPr lang="en-US" sz="1100" dirty="0"/>
          </a:p>
        </p:txBody>
      </p:sp>
      <p:sp>
        <p:nvSpPr>
          <p:cNvPr id="9" name="Shape 6"/>
          <p:cNvSpPr/>
          <p:nvPr/>
        </p:nvSpPr>
        <p:spPr>
          <a:xfrm>
            <a:off x="9098280" y="1828800"/>
            <a:ext cx="2450592" cy="1554480"/>
          </a:xfrm>
          <a:prstGeom prst="rect">
            <a:avLst/>
          </a:prstGeom>
          <a:solidFill>
            <a:srgbClr val="F2F0EC"/>
          </a:solidFill>
          <a:ln w="12700">
            <a:solidFill>
              <a:srgbClr val="F2F0EC"/>
            </a:solidFill>
            <a:prstDash val="solid"/>
          </a:ln>
        </p:spPr>
      </p:sp>
      <p:sp>
        <p:nvSpPr>
          <p:cNvPr id="10" name="Text 7"/>
          <p:cNvSpPr txBox="1"/>
          <p:nvPr/>
        </p:nvSpPr>
        <p:spPr>
          <a:xfrm>
            <a:off x="9281160" y="1965960"/>
            <a:ext cx="2084832" cy="731520"/>
          </a:xfrm>
          <a:prstGeom prst="rect">
            <a:avLst/>
          </a:prstGeom>
          <a:noFill/>
          <a:ln/>
        </p:spPr>
        <p:txBody>
          <a:bodyPr wrap="square" lIns="0" tIns="0" rIns="0" bIns="0" rtlCol="0" anchor="ctr"/>
          <a:lstStyle/>
          <a:p>
            <a:pPr indent="0" marL="0">
              <a:buNone/>
            </a:pPr>
            <a:r>
              <a:rPr lang="en-US" sz="3000" dirty="0">
                <a:solidFill>
                  <a:srgbClr val="1F4E5F"/>
                </a:solidFill>
                <a:latin typeface="Cambria" pitchFamily="34" charset="0"/>
                <a:ea typeface="Cambria" pitchFamily="34" charset="-122"/>
                <a:cs typeface="Cambria" pitchFamily="34" charset="-120"/>
              </a:rPr>
              <a:t>$255/sf</a:t>
            </a:r>
            <a:endParaRPr lang="en-US" sz="3000" dirty="0"/>
          </a:p>
        </p:txBody>
      </p:sp>
      <p:sp>
        <p:nvSpPr>
          <p:cNvPr id="11" name="Text 8"/>
          <p:cNvSpPr txBox="1"/>
          <p:nvPr/>
        </p:nvSpPr>
        <p:spPr>
          <a:xfrm>
            <a:off x="9281160" y="2697480"/>
            <a:ext cx="2084832" cy="640080"/>
          </a:xfrm>
          <a:prstGeom prst="rect">
            <a:avLst/>
          </a:prstGeom>
          <a:noFill/>
          <a:ln/>
        </p:spPr>
        <p:txBody>
          <a:bodyPr wrap="square" lIns="0" tIns="0" rIns="0" bIns="0" rtlCol="0" anchor="t"/>
          <a:lstStyle/>
          <a:p>
            <a:pPr indent="0" marL="0">
              <a:buNone/>
            </a:pPr>
            <a:r>
              <a:rPr lang="en-US" sz="1100" dirty="0">
                <a:solidFill>
                  <a:srgbClr val="5C6570"/>
                </a:solidFill>
                <a:latin typeface="Calibri" pitchFamily="34" charset="0"/>
                <a:ea typeface="Calibri" pitchFamily="34" charset="-122"/>
                <a:cs typeface="Calibri" pitchFamily="34" charset="-120"/>
              </a:rPr>
              <a:t>per sf of building, anchored to Highlands' actual spend</a:t>
            </a:r>
            <a:endParaRPr lang="en-US" sz="1100" dirty="0"/>
          </a:p>
        </p:txBody>
      </p:sp>
      <p:sp>
        <p:nvSpPr>
          <p:cNvPr id="12" name="Text 9"/>
          <p:cNvSpPr txBox="1"/>
          <p:nvPr/>
        </p:nvSpPr>
        <p:spPr>
          <a:xfrm>
            <a:off x="6492240" y="3566160"/>
            <a:ext cx="5029200" cy="320040"/>
          </a:xfrm>
          <a:prstGeom prst="rect">
            <a:avLst/>
          </a:prstGeom>
          <a:noFill/>
          <a:ln/>
        </p:spPr>
        <p:txBody>
          <a:bodyPr wrap="square" lIns="0" tIns="0" rIns="0" bIns="0" rtlCol="0" anchor="ctr"/>
          <a:lstStyle/>
          <a:p>
            <a:pPr indent="0" marL="0">
              <a:buNone/>
            </a:pPr>
            <a:r>
              <a:rPr lang="en-US" sz="1600" dirty="0">
                <a:solidFill>
                  <a:srgbClr val="1F4E5F"/>
                </a:solidFill>
                <a:latin typeface="Cambria" pitchFamily="34" charset="0"/>
                <a:ea typeface="Cambria" pitchFamily="34" charset="-122"/>
                <a:cs typeface="Cambria" pitchFamily="34" charset="-120"/>
              </a:rPr>
              <a:t>How the rent is derived</a:t>
            </a:r>
            <a:endParaRPr lang="en-US" sz="1600" dirty="0"/>
          </a:p>
        </p:txBody>
      </p:sp>
      <p:sp>
        <p:nvSpPr>
          <p:cNvPr id="13" name="Text 10"/>
          <p:cNvSpPr txBox="1"/>
          <p:nvPr/>
        </p:nvSpPr>
        <p:spPr>
          <a:xfrm>
            <a:off x="6492240" y="3931920"/>
            <a:ext cx="5029200" cy="1097280"/>
          </a:xfrm>
          <a:prstGeom prst="rect">
            <a:avLst/>
          </a:prstGeom>
          <a:noFill/>
          <a:ln/>
        </p:spPr>
        <p:txBody>
          <a:bodyPr wrap="square" lIns="0" tIns="0" rIns="0" bIns="0" rtlCol="0" anchor="t"/>
          <a:lstStyle/>
          <a:p>
            <a:pPr indent="0" marL="0">
              <a:spcAft>
                <a:spcPts val="600"/>
              </a:spcAft>
              <a:buNone/>
            </a:pPr>
            <a:r>
              <a:rPr lang="en-US" sz="1300" dirty="0">
                <a:solidFill>
                  <a:srgbClr val="191C1F"/>
                </a:solidFill>
                <a:latin typeface="Calibri" pitchFamily="34" charset="0"/>
                <a:ea typeface="Calibri" pitchFamily="34" charset="-122"/>
                <a:cs typeface="Calibri" pitchFamily="34" charset="-120"/>
              </a:rPr>
              <a:t>A comparable's assessed value times the guideline loaded cap gives the assessor's own net operating income. Add back guideline expenses, gross up for vacancy. Nothing in it is an opinion about the market.</a:t>
            </a:r>
            <a:endParaRPr lang="en-US" sz="1300" dirty="0"/>
          </a:p>
        </p:txBody>
      </p:sp>
      <p:sp>
        <p:nvSpPr>
          <p:cNvPr id="14" name="Shape 11"/>
          <p:cNvSpPr/>
          <p:nvPr/>
        </p:nvSpPr>
        <p:spPr>
          <a:xfrm>
            <a:off x="640080" y="5074920"/>
            <a:ext cx="5394960" cy="1005840"/>
          </a:xfrm>
          <a:prstGeom prst="rect">
            <a:avLst/>
          </a:prstGeom>
          <a:solidFill>
            <a:srgbClr val="E6EDEF"/>
          </a:solidFill>
          <a:ln w="12700">
            <a:solidFill>
              <a:srgbClr val="E6EDEF"/>
            </a:solidFill>
            <a:prstDash val="solid"/>
          </a:ln>
        </p:spPr>
      </p:sp>
      <p:sp>
        <p:nvSpPr>
          <p:cNvPr id="15" name="Text 12"/>
          <p:cNvSpPr txBox="1"/>
          <p:nvPr/>
        </p:nvSpPr>
        <p:spPr>
          <a:xfrm>
            <a:off x="868680" y="5212080"/>
            <a:ext cx="4937760" cy="731520"/>
          </a:xfrm>
          <a:prstGeom prst="rect">
            <a:avLst/>
          </a:prstGeom>
          <a:noFill/>
          <a:ln/>
        </p:spPr>
        <p:txBody>
          <a:bodyPr wrap="square" lIns="0" tIns="0" rIns="0" bIns="0" rtlCol="0" anchor="ctr"/>
          <a:lstStyle/>
          <a:p>
            <a:pPr indent="0" marL="0">
              <a:buNone/>
            </a:pPr>
            <a:r>
              <a:rPr lang="en-US" sz="1400" i="1" dirty="0">
                <a:solidFill>
                  <a:srgbClr val="1F4E5F"/>
                </a:solidFill>
                <a:latin typeface="Cambria" pitchFamily="34" charset="0"/>
                <a:ea typeface="Cambria" pitchFamily="34" charset="-122"/>
                <a:cs typeface="Cambria" pitchFamily="34" charset="-120"/>
              </a:rPr>
              <a:t>Read the two cases together. One shows what a model does when the facts constrain it. The other shows what it does when they do not.</a:t>
            </a:r>
            <a:endParaRPr lang="en-US" sz="1400" dirty="0"/>
          </a:p>
        </p:txBody>
      </p:sp>
      <p:sp>
        <p:nvSpPr>
          <p:cNvPr id="16" name="Text 13"/>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17" name="Text 14"/>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ONE ROSSLYN · THE STRATEGIES</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The holding period is the deal</a:t>
            </a:r>
            <a:endParaRPr lang="en-US" sz="3000" dirty="0"/>
          </a:p>
        </p:txBody>
      </p:sp>
      <p:sp>
        <p:nvSpPr>
          <p:cNvPr id="4" name="Text 2"/>
          <p:cNvSpPr txBox="1"/>
          <p:nvPr/>
        </p:nvSpPr>
        <p:spPr>
          <a:xfrm>
            <a:off x="640080" y="1828800"/>
            <a:ext cx="5029200" cy="1737360"/>
          </a:xfrm>
          <a:prstGeom prst="rect">
            <a:avLst/>
          </a:prstGeom>
          <a:noFill/>
          <a:ln/>
        </p:spPr>
        <p:txBody>
          <a:bodyPr wrap="square" lIns="0" tIns="0" rIns="0" bIns="0" rtlCol="0" anchor="t"/>
          <a:lstStyle/>
          <a:p>
            <a:pPr indent="0" marL="0">
              <a:spcAft>
                <a:spcPts val="600"/>
              </a:spcAft>
              <a:buNone/>
            </a:pPr>
            <a:r>
              <a:rPr lang="en-US" sz="1350" dirty="0">
                <a:solidFill>
                  <a:srgbClr val="191C1F"/>
                </a:solidFill>
                <a:latin typeface="Calibri" pitchFamily="34" charset="0"/>
                <a:ea typeface="Calibri" pitchFamily="34" charset="-122"/>
                <a:cs typeface="Calibri" pitchFamily="34" charset="-120"/>
              </a:rPr>
              <a:t>One model carries two exits over one set of facts. The hold is the base case: stabilize, refinance into permanent debt at 60% of value, hold five years. The sale is the comparison, kept because it is what the same partners chose four blocks away. The engine derives each exit from the twelve months of income after it, over the County's cap.</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35040" y="1828800"/>
          <a:ext cx="5486400" cy="914400"/>
        </p:xfrm>
        <a:graphic>
          <a:graphicData uri="http://schemas.openxmlformats.org/drawingml/2006/table">
            <a:tbl>
              <a:tblPr/>
              <a:tblGrid>
                <a:gridCol w="2011680"/>
                <a:gridCol w="1737360"/>
                <a:gridCol w="1737360"/>
              </a:tblGrid>
              <a:tr h="329184">
                <a:tc>
                  <a:txBody>
                    <a:bodyPr/>
                    <a:lstStyle/>
                    <a:p>
                      <a:pPr algn="l" indent="0" marL="0">
                        <a:buNone/>
                      </a:pP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A · sell in lease-up</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B · hold five years</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Exit</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2031-10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2037-06</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29184">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Construction cost</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555,953,894</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555,953,894</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Capitalized interest</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58,451,635</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70,146,419</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29184">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Permanent loan</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347,217,832</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Exit value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567,404,298</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691,127,415</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29184">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Exit per unit</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734,980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895,243</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Net to equity</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28,591,606</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223,799,127</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29184">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Equity multiple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1.09x</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1.74x</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Return</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2.02%</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6.57%</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bl>
          </a:graphicData>
        </a:graphic>
      </p:graphicFrame>
      <p:sp>
        <p:nvSpPr>
          <p:cNvPr id="6" name="Shape 3"/>
          <p:cNvSpPr/>
          <p:nvPr/>
        </p:nvSpPr>
        <p:spPr>
          <a:xfrm>
            <a:off x="640080" y="3749040"/>
            <a:ext cx="5029200" cy="1280160"/>
          </a:xfrm>
          <a:prstGeom prst="rect">
            <a:avLst/>
          </a:prstGeom>
          <a:solidFill>
            <a:srgbClr val="E6EDEF"/>
          </a:solidFill>
          <a:ln w="12700">
            <a:solidFill>
              <a:srgbClr val="E6EDEF"/>
            </a:solidFill>
            <a:prstDash val="solid"/>
          </a:ln>
        </p:spPr>
      </p:sp>
      <p:sp>
        <p:nvSpPr>
          <p:cNvPr id="7" name="Text 4"/>
          <p:cNvSpPr txBox="1"/>
          <p:nvPr/>
        </p:nvSpPr>
        <p:spPr>
          <a:xfrm>
            <a:off x="868680" y="3886200"/>
            <a:ext cx="4572000" cy="1005840"/>
          </a:xfrm>
          <a:prstGeom prst="rect">
            <a:avLst/>
          </a:prstGeom>
          <a:noFill/>
          <a:ln/>
        </p:spPr>
        <p:txBody>
          <a:bodyPr wrap="square" lIns="0" tIns="0" rIns="0" bIns="0" rtlCol="0" anchor="ctr"/>
          <a:lstStyle/>
          <a:p>
            <a:pPr indent="0" marL="0">
              <a:buNone/>
            </a:pPr>
            <a:r>
              <a:rPr lang="en-US" sz="1400" i="1" dirty="0">
                <a:solidFill>
                  <a:srgbClr val="1F4E5F"/>
                </a:solidFill>
                <a:latin typeface="Cambria" pitchFamily="34" charset="0"/>
                <a:ea typeface="Cambria" pitchFamily="34" charset="-122"/>
                <a:cs typeface="Cambria" pitchFamily="34" charset="-120"/>
              </a:rPr>
              <a:t>Land, building, cost and basis are identical in both columns. Scenario A's derived exit of $734,980 per unit sits within 0.1% of what Evo actually sold for.</a:t>
            </a:r>
            <a:endParaRPr lang="en-US" sz="1400" dirty="0"/>
          </a:p>
        </p:txBody>
      </p:sp>
      <p:sp>
        <p:nvSpPr>
          <p:cNvPr id="8" name="Text 5"/>
          <p:cNvSpPr txBox="1"/>
          <p:nvPr/>
        </p:nvSpPr>
        <p:spPr>
          <a:xfrm>
            <a:off x="640080" y="5212080"/>
            <a:ext cx="5029200" cy="457200"/>
          </a:xfrm>
          <a:prstGeom prst="rect">
            <a:avLst/>
          </a:prstGeom>
          <a:noFill/>
          <a:ln/>
        </p:spPr>
        <p:txBody>
          <a:bodyPr wrap="square" lIns="0" tIns="0" rIns="0" bIns="0" rtlCol="0" anchor="t"/>
          <a:lstStyle/>
          <a:p>
            <a:pPr indent="0" marL="0">
              <a:spcAft>
                <a:spcPts val="600"/>
              </a:spcAft>
              <a:buNone/>
            </a:pPr>
            <a:r>
              <a:rPr lang="en-US" sz="1200" dirty="0">
                <a:solidFill>
                  <a:srgbClr val="5C6570"/>
                </a:solidFill>
                <a:latin typeface="Calibri" pitchFamily="34" charset="0"/>
                <a:ea typeface="Calibri" pitchFamily="34" charset="-122"/>
                <a:cs typeface="Calibri" pitchFamily="34" charset="-120"/>
              </a:rPr>
              <a:t>Both scenarios tie to the independent workbook to under a dollar.</a:t>
            </a:r>
            <a:endParaRPr lang="en-US" sz="1200" dirty="0"/>
          </a:p>
        </p:txBody>
      </p:sp>
      <p:sp>
        <p:nvSpPr>
          <p:cNvPr id="9" name="Text 6"/>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10" name="Text 7"/>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ONE ROSSLYN · THE SCENARIO SET</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Six named runs, bracketed by Rosslyn's own history</a:t>
            </a:r>
            <a:endParaRPr lang="en-US" sz="3000" dirty="0"/>
          </a:p>
        </p:txBody>
      </p:sp>
      <p:sp>
        <p:nvSpPr>
          <p:cNvPr id="4" name="Text 2"/>
          <p:cNvSpPr txBox="1"/>
          <p:nvPr/>
        </p:nvSpPr>
        <p:spPr>
          <a:xfrm>
            <a:off x="640080" y="1828800"/>
            <a:ext cx="4754880" cy="1554480"/>
          </a:xfrm>
          <a:prstGeom prst="rect">
            <a:avLst/>
          </a:prstGeom>
          <a:noFill/>
          <a:ln/>
        </p:spPr>
        <p:txBody>
          <a:bodyPr wrap="square" lIns="0" tIns="0" rIns="0" bIns="0" rtlCol="0" anchor="t"/>
          <a:lstStyle/>
          <a:p>
            <a:pPr indent="0" marL="0">
              <a:spcAft>
                <a:spcPts val="600"/>
              </a:spcAft>
              <a:buNone/>
            </a:pPr>
            <a:r>
              <a:rPr lang="en-US" sz="1350" dirty="0">
                <a:solidFill>
                  <a:srgbClr val="191C1F"/>
                </a:solidFill>
                <a:latin typeface="Calibri" pitchFamily="34" charset="0"/>
                <a:ea typeface="Calibri" pitchFamily="34" charset="-122"/>
                <a:cs typeface="Calibri" pitchFamily="34" charset="-120"/>
              </a:rPr>
              <a:t>The market factor scales the exit. 1.00 is the County's guideline basis. The two observations available bracket it: The Highlands sold at +32% to this basis in 2022, Central Place at −11.6% in 2026. Each strategy runs at all three, and each run pins its own answer.</a:t>
            </a:r>
            <a:endParaRPr lang="en-US" sz="1350" dirty="0"/>
          </a:p>
        </p:txBody>
      </p:sp>
      <p:graphicFrame>
        <p:nvGraphicFramePr>
          <p:cNvPr id="5" name="Chart 0" descr=""/>
          <p:cNvGraphicFramePr/>
          <p:nvPr/>
        </p:nvGraphicFramePr>
        <p:xfrm>
          <a:off x="5760720" y="1737360"/>
          <a:ext cx="585216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3520440"/>
          <a:ext cx="4754880" cy="914400"/>
        </p:xfrm>
        <a:graphic>
          <a:graphicData uri="http://schemas.openxmlformats.org/drawingml/2006/table">
            <a:tbl>
              <a:tblPr/>
              <a:tblGrid>
                <a:gridCol w="2377440"/>
                <a:gridCol w="1188720"/>
                <a:gridCol w="1188720"/>
              </a:tblGrid>
              <a:tr h="292608">
                <a:tc>
                  <a:txBody>
                    <a:bodyPr/>
                    <a:lstStyle/>
                    <a:p>
                      <a:pPr algn="l" indent="0" marL="0">
                        <a:buNone/>
                      </a:pPr>
                      <a:r>
                        <a:rPr lang="en-US" sz="1150" b="1" dirty="0">
                          <a:solidFill>
                            <a:srgbClr val="5C6570"/>
                          </a:solidFill>
                          <a:latin typeface="Calibri" pitchFamily="34" charset="0"/>
                          <a:ea typeface="Calibri" pitchFamily="34" charset="-122"/>
                          <a:cs typeface="Calibri" pitchFamily="34" charset="-120"/>
                        </a:rPr>
                        <a:t>Run</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5C6570"/>
                          </a:solidFill>
                          <a:latin typeface="Calibri" pitchFamily="34" charset="0"/>
                          <a:ea typeface="Calibri" pitchFamily="34" charset="-122"/>
                          <a:cs typeface="Calibri" pitchFamily="34" charset="-120"/>
                        </a:rPr>
                        <a:t>Market factor</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5C6570"/>
                          </a:solidFill>
                          <a:latin typeface="Calibri" pitchFamily="34" charset="0"/>
                          <a:ea typeface="Calibri" pitchFamily="34" charset="-122"/>
                          <a:cs typeface="Calibri" pitchFamily="34" charset="-120"/>
                        </a:rPr>
                        <a:t>Return</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292608">
                <a:tc>
                  <a:txBody>
                    <a:bodyPr/>
                    <a:lstStyle/>
                    <a:p>
                      <a:pPr algn="l" indent="0" marL="0">
                        <a:buNone/>
                      </a:pPr>
                      <a:r>
                        <a:rPr lang="en-US" sz="1150" dirty="0">
                          <a:solidFill>
                            <a:srgbClr val="191C1F"/>
                          </a:solidFill>
                          <a:latin typeface="Calibri" pitchFamily="34" charset="0"/>
                          <a:ea typeface="Calibri" pitchFamily="34" charset="-122"/>
                          <a:cs typeface="Calibri" pitchFamily="34" charset="-120"/>
                        </a:rPr>
                        <a:t>Hold, guideline (base)</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6.57%</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292608">
                <a:tc>
                  <a:txBody>
                    <a:bodyPr/>
                    <a:lstStyle/>
                    <a:p>
                      <a:pPr algn="l" indent="0" marL="0">
                        <a:buNone/>
                      </a:pPr>
                      <a:r>
                        <a:rPr lang="en-US" sz="1150" dirty="0">
                          <a:solidFill>
                            <a:srgbClr val="191C1F"/>
                          </a:solidFill>
                          <a:latin typeface="Calibri" pitchFamily="34" charset="0"/>
                          <a:ea typeface="Calibri" pitchFamily="34" charset="-122"/>
                          <a:cs typeface="Calibri" pitchFamily="34" charset="-120"/>
                        </a:rPr>
                        <a:t>Hold, 2026 discount</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0.884</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4.70%</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292608">
                <a:tc>
                  <a:txBody>
                    <a:bodyPr/>
                    <a:lstStyle/>
                    <a:p>
                      <a:pPr algn="l" indent="0" marL="0">
                        <a:buNone/>
                      </a:pPr>
                      <a:r>
                        <a:rPr lang="en-US" sz="1150" dirty="0">
                          <a:solidFill>
                            <a:srgbClr val="191C1F"/>
                          </a:solidFill>
                          <a:latin typeface="Calibri" pitchFamily="34" charset="0"/>
                          <a:ea typeface="Calibri" pitchFamily="34" charset="-122"/>
                          <a:cs typeface="Calibri" pitchFamily="34" charset="-120"/>
                        </a:rPr>
                        <a:t>Hold, 2022 premium</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1.321</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10.44%</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292608">
                <a:tc>
                  <a:txBody>
                    <a:bodyPr/>
                    <a:lstStyle/>
                    <a:p>
                      <a:pPr algn="l" indent="0" marL="0">
                        <a:buNone/>
                      </a:pPr>
                      <a:r>
                        <a:rPr lang="en-US" sz="1150" dirty="0">
                          <a:solidFill>
                            <a:srgbClr val="191C1F"/>
                          </a:solidFill>
                          <a:latin typeface="Calibri" pitchFamily="34" charset="0"/>
                          <a:ea typeface="Calibri" pitchFamily="34" charset="-122"/>
                          <a:cs typeface="Calibri" pitchFamily="34" charset="-120"/>
                        </a:rPr>
                        <a:t>Sell, guideline</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2.02%</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292608">
                <a:tc>
                  <a:txBody>
                    <a:bodyPr/>
                    <a:lstStyle/>
                    <a:p>
                      <a:pPr algn="l" indent="0" marL="0">
                        <a:buNone/>
                      </a:pPr>
                      <a:r>
                        <a:rPr lang="en-US" sz="1150" dirty="0">
                          <a:solidFill>
                            <a:srgbClr val="191C1F"/>
                          </a:solidFill>
                          <a:latin typeface="Calibri" pitchFamily="34" charset="0"/>
                          <a:ea typeface="Calibri" pitchFamily="34" charset="-122"/>
                          <a:cs typeface="Calibri" pitchFamily="34" charset="-120"/>
                        </a:rPr>
                        <a:t>Sell, 2026 discount</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0.884</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−2.90%</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292608">
                <a:tc>
                  <a:txBody>
                    <a:bodyPr/>
                    <a:lstStyle/>
                    <a:p>
                      <a:pPr algn="l" indent="0" marL="0">
                        <a:buNone/>
                      </a:pPr>
                      <a:r>
                        <a:rPr lang="en-US" sz="1150" dirty="0">
                          <a:solidFill>
                            <a:srgbClr val="191C1F"/>
                          </a:solidFill>
                          <a:latin typeface="Calibri" pitchFamily="34" charset="0"/>
                          <a:ea typeface="Calibri" pitchFamily="34" charset="-122"/>
                          <a:cs typeface="Calibri" pitchFamily="34" charset="-120"/>
                        </a:rPr>
                        <a:t>Sell, 2022 premium</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1.321</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12.00%</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8" name="Text 4"/>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ONE ROSSLYN · THE SPLIT</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At the guideline basis, neither strategy clears the preference</a:t>
            </a:r>
            <a:endParaRPr lang="en-US" sz="3000" dirty="0"/>
          </a:p>
        </p:txBody>
      </p:sp>
      <p:sp>
        <p:nvSpPr>
          <p:cNvPr id="4" name="Text 2"/>
          <p:cNvSpPr txBox="1"/>
          <p:nvPr/>
        </p:nvSpPr>
        <p:spPr>
          <a:xfrm>
            <a:off x="640080" y="1828800"/>
            <a:ext cx="5212080" cy="1828800"/>
          </a:xfrm>
          <a:prstGeom prst="rect">
            <a:avLst/>
          </a:prstGeom>
          <a:noFill/>
          <a:ln/>
        </p:spPr>
        <p:txBody>
          <a:bodyPr wrap="square" lIns="0" tIns="0" rIns="0" bIns="0" rtlCol="0" anchor="t"/>
          <a:lstStyle/>
          <a:p>
            <a:pPr indent="0" marL="0">
              <a:spcAft>
                <a:spcPts val="600"/>
              </a:spcAft>
              <a:buNone/>
            </a:pPr>
            <a:r>
              <a:rPr lang="en-US" sz="1350" dirty="0">
                <a:solidFill>
                  <a:srgbClr val="191C1F"/>
                </a:solidFill>
                <a:latin typeface="Calibri" pitchFamily="34" charset="0"/>
                <a:ea typeface="Calibri" pitchFamily="34" charset="-122"/>
                <a:cs typeface="Calibri" pitchFamily="34" charset="-120"/>
              </a:rPr>
              <a:t>The same seven tiers as The Highlands, split once per strategy. Capital and the preference come back pro rata, so below the promote the partners are pari passu. The hold returns 6.57% on the deal's cash against an 8% preference: the profit is paid out as preference and stops short of it. The promote is zero under both strategies, and both partners earn the same return.</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309360" y="1828800"/>
          <a:ext cx="5212080" cy="914400"/>
        </p:xfrm>
        <a:graphic>
          <a:graphicData uri="http://schemas.openxmlformats.org/drawingml/2006/table">
            <a:tbl>
              <a:tblPr/>
              <a:tblGrid>
                <a:gridCol w="2286000"/>
                <a:gridCol w="1463040"/>
                <a:gridCol w="1463040"/>
              </a:tblGrid>
              <a:tr h="310896">
                <a:tc>
                  <a:txBody>
                    <a:bodyPr/>
                    <a:lstStyle/>
                    <a:p>
                      <a:pPr algn="l" indent="0" marL="0">
                        <a:buNone/>
                      </a:pP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Sell</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5C6570"/>
                          </a:solidFill>
                          <a:latin typeface="Calibri" pitchFamily="34" charset="0"/>
                          <a:ea typeface="Calibri" pitchFamily="34" charset="-122"/>
                          <a:cs typeface="Calibri" pitchFamily="34" charset="-120"/>
                        </a:rPr>
                        <a:t>Hold</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Distributed</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278,260,488</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473,468,010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Preference owed</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115,348,264</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297,775,808</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Preference paid</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28,591,606</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223,799,127</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Promote</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Multiple, both partners</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1.11x</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1.90x</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10896">
                <a:tc>
                  <a:txBody>
                    <a:bodyPr/>
                    <a:lstStyle/>
                    <a:p>
                      <a:pPr algn="l" indent="0" marL="0">
                        <a:buNone/>
                      </a:pPr>
                      <a:r>
                        <a:rPr lang="en-US" sz="1200" dirty="0">
                          <a:solidFill>
                            <a:srgbClr val="191C1F"/>
                          </a:solidFill>
                          <a:latin typeface="Calibri" pitchFamily="34" charset="0"/>
                          <a:ea typeface="Calibri" pitchFamily="34" charset="-122"/>
                          <a:cs typeface="Calibri" pitchFamily="34" charset="-120"/>
                        </a:rPr>
                        <a:t>Return, both partners</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91C1F"/>
                          </a:solidFill>
                          <a:latin typeface="Calibri" pitchFamily="34" charset="0"/>
                          <a:ea typeface="Calibri" pitchFamily="34" charset="-122"/>
                          <a:cs typeface="Calibri" pitchFamily="34" charset="-120"/>
                        </a:rPr>
                        <a:t>6.22%</a:t>
                      </a:r>
                      <a:endParaRPr lang="en-US" sz="12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309360" y="4251960"/>
            <a:ext cx="5212080" cy="320040"/>
          </a:xfrm>
          <a:prstGeom prst="rect">
            <a:avLst/>
          </a:prstGeom>
          <a:noFill/>
          <a:ln/>
        </p:spPr>
        <p:txBody>
          <a:bodyPr wrap="square" lIns="0" tIns="0" rIns="0" bIns="0" rtlCol="0" anchor="ctr"/>
          <a:lstStyle/>
          <a:p>
            <a:pPr indent="0" marL="0">
              <a:buNone/>
            </a:pPr>
            <a:r>
              <a:rPr lang="en-US" sz="1600" dirty="0">
                <a:solidFill>
                  <a:srgbClr val="1F4E5F"/>
                </a:solidFill>
                <a:latin typeface="Cambria" pitchFamily="34" charset="0"/>
                <a:ea typeface="Cambria" pitchFamily="34" charset="-122"/>
                <a:cs typeface="Cambria" pitchFamily="34" charset="-120"/>
              </a:rPr>
              <a:t>Where the promote starts</a:t>
            </a:r>
            <a:endParaRPr lang="en-US" sz="16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309360" y="4617720"/>
          <a:ext cx="5212080" cy="914400"/>
        </p:xfrm>
        <a:graphic>
          <a:graphicData uri="http://schemas.openxmlformats.org/drawingml/2006/table">
            <a:tbl>
              <a:tblPr/>
              <a:tblGrid>
                <a:gridCol w="2286000"/>
                <a:gridCol w="1097280"/>
                <a:gridCol w="914400"/>
                <a:gridCol w="914400"/>
              </a:tblGrid>
              <a:tr h="310896">
                <a:tc>
                  <a:txBody>
                    <a:bodyPr/>
                    <a:lstStyle/>
                    <a:p>
                      <a:pPr algn="l" indent="0" marL="0">
                        <a:buNone/>
                      </a:pPr>
                      <a:r>
                        <a:rPr lang="en-US" sz="1150" b="1" dirty="0">
                          <a:solidFill>
                            <a:srgbClr val="5C6570"/>
                          </a:solidFill>
                          <a:latin typeface="Calibri" pitchFamily="34" charset="0"/>
                          <a:ea typeface="Calibri" pitchFamily="34" charset="-122"/>
                          <a:cs typeface="Calibri" pitchFamily="34" charset="-120"/>
                        </a:rPr>
                        <a:t>Priced where The Highlands traded</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5C6570"/>
                          </a:solidFill>
                          <a:latin typeface="Calibri" pitchFamily="34" charset="0"/>
                          <a:ea typeface="Calibri" pitchFamily="34" charset="-122"/>
                          <a:cs typeface="Calibri" pitchFamily="34" charset="-120"/>
                        </a:rPr>
                        <a:t>Promote</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5C6570"/>
                          </a:solidFill>
                          <a:latin typeface="Calibri" pitchFamily="34" charset="0"/>
                          <a:ea typeface="Calibri" pitchFamily="34" charset="-122"/>
                          <a:cs typeface="Calibri" pitchFamily="34" charset="-120"/>
                        </a:rPr>
                        <a:t>Baupost</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5C6570"/>
                          </a:solidFill>
                          <a:latin typeface="Calibri" pitchFamily="34" charset="0"/>
                          <a:ea typeface="Calibri" pitchFamily="34" charset="-122"/>
                          <a:cs typeface="Calibri" pitchFamily="34" charset="-120"/>
                        </a:rPr>
                        <a:t>Penzance</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91C1F"/>
                          </a:solidFill>
                          <a:latin typeface="Calibri" pitchFamily="34" charset="0"/>
                          <a:ea typeface="Calibri" pitchFamily="34" charset="-122"/>
                          <a:cs typeface="Calibri" pitchFamily="34" charset="-120"/>
                        </a:rPr>
                        <a:t>Hold</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29,575,044</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9.64%</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13.43%</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AF9F7"/>
                    </a:solidFill>
                  </a:tcPr>
                </a:tc>
              </a:tr>
              <a:tr h="310896">
                <a:tc>
                  <a:txBody>
                    <a:bodyPr/>
                    <a:lstStyle/>
                    <a:p>
                      <a:pPr algn="l" indent="0" marL="0">
                        <a:buNone/>
                      </a:pPr>
                      <a:r>
                        <a:rPr lang="en-US" sz="1150" dirty="0">
                          <a:solidFill>
                            <a:srgbClr val="191C1F"/>
                          </a:solidFill>
                          <a:latin typeface="Calibri" pitchFamily="34" charset="0"/>
                          <a:ea typeface="Calibri" pitchFamily="34" charset="-122"/>
                          <a:cs typeface="Calibri" pitchFamily="34" charset="-120"/>
                        </a:rPr>
                        <a:t>Sell</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19,076,024</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10.74%</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91C1F"/>
                          </a:solidFill>
                          <a:latin typeface="Calibri" pitchFamily="34" charset="0"/>
                          <a:ea typeface="Calibri" pitchFamily="34" charset="-122"/>
                          <a:cs typeface="Calibri" pitchFamily="34" charset="-120"/>
                        </a:rPr>
                        <a:t>17.78%</a:t>
                      </a:r>
                      <a:endParaRPr lang="en-US" sz="115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2DFDA"/>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3931920"/>
            <a:ext cx="5212080" cy="1280160"/>
          </a:xfrm>
          <a:prstGeom prst="rect">
            <a:avLst/>
          </a:prstGeom>
          <a:solidFill>
            <a:srgbClr val="E6EDEF"/>
          </a:solidFill>
          <a:ln w="12700">
            <a:solidFill>
              <a:srgbClr val="E6EDEF"/>
            </a:solidFill>
            <a:prstDash val="solid"/>
          </a:ln>
        </p:spPr>
      </p:sp>
      <p:sp>
        <p:nvSpPr>
          <p:cNvPr id="9" name="Text 5"/>
          <p:cNvSpPr txBox="1"/>
          <p:nvPr/>
        </p:nvSpPr>
        <p:spPr>
          <a:xfrm>
            <a:off x="868680" y="4069080"/>
            <a:ext cx="4754880" cy="1005840"/>
          </a:xfrm>
          <a:prstGeom prst="rect">
            <a:avLst/>
          </a:prstGeom>
          <a:noFill/>
          <a:ln/>
        </p:spPr>
        <p:txBody>
          <a:bodyPr wrap="square" lIns="0" tIns="0" rIns="0" bIns="0" rtlCol="0" anchor="ctr"/>
          <a:lstStyle/>
          <a:p>
            <a:pPr indent="0" marL="0">
              <a:buNone/>
            </a:pPr>
            <a:r>
              <a:rPr lang="en-US" sz="1400" i="1" dirty="0">
                <a:solidFill>
                  <a:srgbClr val="1F4E5F"/>
                </a:solidFill>
                <a:latin typeface="Cambria" pitchFamily="34" charset="0"/>
                <a:ea typeface="Cambria" pitchFamily="34" charset="-122"/>
                <a:cs typeface="Cambria" pitchFamily="34" charset="-120"/>
              </a:rPr>
              <a:t>The promote is not an assumption about the deal. It is what the structure pays once the deal clears the preference, and the record says whether it does.</a:t>
            </a:r>
            <a:endParaRPr lang="en-US" sz="1400" dirty="0"/>
          </a:p>
        </p:txBody>
      </p:sp>
      <p:sp>
        <p:nvSpPr>
          <p:cNvPr id="10" name="Text 6"/>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11" name="Text 7"/>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WHAT IS SOURCED, AND WHAT IS NOT</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The record fixes half the answer. You hold the other half.</a:t>
            </a:r>
            <a:endParaRPr lang="en-US" sz="3000" dirty="0"/>
          </a:p>
        </p:txBody>
      </p:sp>
      <p:sp>
        <p:nvSpPr>
          <p:cNvPr id="4" name="Text 2"/>
          <p:cNvSpPr txBox="1"/>
          <p:nvPr/>
        </p:nvSpPr>
        <p:spPr>
          <a:xfrm>
            <a:off x="640080" y="1874520"/>
            <a:ext cx="3520440" cy="365760"/>
          </a:xfrm>
          <a:prstGeom prst="rect">
            <a:avLst/>
          </a:prstGeom>
          <a:noFill/>
          <a:ln/>
        </p:spPr>
        <p:txBody>
          <a:bodyPr wrap="square" lIns="0" tIns="0" rIns="0" bIns="0" rtlCol="0" anchor="ctr"/>
          <a:lstStyle/>
          <a:p>
            <a:pPr indent="0" marL="0">
              <a:buNone/>
            </a:pPr>
            <a:r>
              <a:rPr lang="en-US" sz="1700" dirty="0">
                <a:solidFill>
                  <a:srgbClr val="3F6B4F"/>
                </a:solidFill>
                <a:latin typeface="Cambria" pitchFamily="34" charset="0"/>
                <a:ea typeface="Cambria" pitchFamily="34" charset="-122"/>
                <a:cs typeface="Cambria" pitchFamily="34" charset="-120"/>
              </a:rPr>
              <a:t>In the record</a:t>
            </a:r>
            <a:endParaRPr lang="en-US" sz="1700" dirty="0"/>
          </a:p>
        </p:txBody>
      </p:sp>
      <p:sp>
        <p:nvSpPr>
          <p:cNvPr id="5" name="Text 3"/>
          <p:cNvSpPr txBox="1"/>
          <p:nvPr/>
        </p:nvSpPr>
        <p:spPr>
          <a:xfrm>
            <a:off x="640080" y="2331720"/>
            <a:ext cx="352044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Program, unit mix, GFA, parking</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Land basis, from the deed</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Every condominium closing</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Both tower sale prices</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County cap, expenses, vacancy</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Public obligations and their timing</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Four recorded Arlington trades</a:t>
            </a:r>
            <a:endParaRPr lang="en-US" sz="1300" dirty="0"/>
          </a:p>
        </p:txBody>
      </p:sp>
      <p:sp>
        <p:nvSpPr>
          <p:cNvPr id="6" name="Text 4"/>
          <p:cNvSpPr txBox="1"/>
          <p:nvPr/>
        </p:nvSpPr>
        <p:spPr>
          <a:xfrm>
            <a:off x="4343400" y="1874520"/>
            <a:ext cx="3520440" cy="365760"/>
          </a:xfrm>
          <a:prstGeom prst="rect">
            <a:avLst/>
          </a:prstGeom>
          <a:noFill/>
          <a:ln/>
        </p:spPr>
        <p:txBody>
          <a:bodyPr wrap="square" lIns="0" tIns="0" rIns="0" bIns="0" rtlCol="0" anchor="ctr"/>
          <a:lstStyle/>
          <a:p>
            <a:pPr indent="0" marL="0">
              <a:buNone/>
            </a:pPr>
            <a:r>
              <a:rPr lang="en-US" sz="1700" dirty="0">
                <a:solidFill>
                  <a:srgbClr val="1F4E5F"/>
                </a:solidFill>
                <a:latin typeface="Cambria" pitchFamily="34" charset="0"/>
                <a:ea typeface="Cambria" pitchFamily="34" charset="-122"/>
                <a:cs typeface="Cambria" pitchFamily="34" charset="-120"/>
              </a:rPr>
              <a:t>Derived, by a stated method</a:t>
            </a:r>
            <a:endParaRPr lang="en-US" sz="1700" dirty="0"/>
          </a:p>
        </p:txBody>
      </p:sp>
      <p:sp>
        <p:nvSpPr>
          <p:cNvPr id="7" name="Text 5"/>
          <p:cNvSpPr txBox="1"/>
          <p:nvPr/>
        </p:nvSpPr>
        <p:spPr>
          <a:xfrm>
            <a:off x="4343400" y="2331720"/>
            <a:ext cx="352044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Rent per unit, from assessed value at the County's cap</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Construction cost, anchored to Highlands and escalated by BLS</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Exit value, from forward income over the cap</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The market factor's bracket, from Rosslyn's own trades</a:t>
            </a:r>
            <a:endParaRPr lang="en-US" sz="1300" dirty="0"/>
          </a:p>
        </p:txBody>
      </p:sp>
      <p:sp>
        <p:nvSpPr>
          <p:cNvPr id="8" name="Text 6"/>
          <p:cNvSpPr txBox="1"/>
          <p:nvPr/>
        </p:nvSpPr>
        <p:spPr>
          <a:xfrm>
            <a:off x="8046720" y="1874520"/>
            <a:ext cx="3520440" cy="365760"/>
          </a:xfrm>
          <a:prstGeom prst="rect">
            <a:avLst/>
          </a:prstGeom>
          <a:noFill/>
          <a:ln/>
        </p:spPr>
        <p:txBody>
          <a:bodyPr wrap="square" lIns="0" tIns="0" rIns="0" bIns="0" rtlCol="0" anchor="ctr"/>
          <a:lstStyle/>
          <a:p>
            <a:pPr indent="0" marL="0">
              <a:buNone/>
            </a:pPr>
            <a:r>
              <a:rPr lang="en-US" sz="1700" dirty="0">
                <a:solidFill>
                  <a:srgbClr val="8A5A1E"/>
                </a:solidFill>
                <a:latin typeface="Cambria" pitchFamily="34" charset="0"/>
                <a:ea typeface="Cambria" pitchFamily="34" charset="-122"/>
                <a:cs typeface="Cambria" pitchFamily="34" charset="-120"/>
              </a:rPr>
              <a:t>Assumed, and labeled</a:t>
            </a:r>
            <a:endParaRPr lang="en-US" sz="1700" dirty="0"/>
          </a:p>
        </p:txBody>
      </p:sp>
      <p:sp>
        <p:nvSpPr>
          <p:cNvPr id="9" name="Text 7"/>
          <p:cNvSpPr txBox="1"/>
          <p:nvPr/>
        </p:nvSpPr>
        <p:spPr>
          <a:xfrm>
            <a:off x="8046720" y="2331720"/>
            <a:ext cx="352044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Construction cost and duration</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Debt pricing and leverage</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Lease-up pace</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Condominium pricing</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The partnership terms</a:t>
            </a:r>
            <a:endParaRPr lang="en-US" sz="1300" dirty="0"/>
          </a:p>
          <a:p>
            <a:pPr marL="342900" indent="-342900">
              <a:spcAft>
                <a:spcPts val="600"/>
              </a:spcAft>
              <a:buSzPct val="100000"/>
              <a:buChar char="•"/>
            </a:pPr>
            <a:r>
              <a:rPr lang="en-US" sz="1300" dirty="0">
                <a:solidFill>
                  <a:srgbClr val="191C1F"/>
                </a:solidFill>
                <a:latin typeface="Calibri" pitchFamily="34" charset="0"/>
                <a:ea typeface="Calibri" pitchFamily="34" charset="-122"/>
                <a:cs typeface="Calibri" pitchFamily="34" charset="-120"/>
              </a:rPr>
              <a:t>The hold length</a:t>
            </a:r>
            <a:endParaRPr lang="en-US" sz="1300" dirty="0"/>
          </a:p>
        </p:txBody>
      </p:sp>
      <p:sp>
        <p:nvSpPr>
          <p:cNvPr id="10" name="Shape 8"/>
          <p:cNvSpPr/>
          <p:nvPr/>
        </p:nvSpPr>
        <p:spPr>
          <a:xfrm>
            <a:off x="640080" y="5257800"/>
            <a:ext cx="10881360" cy="868680"/>
          </a:xfrm>
          <a:prstGeom prst="rect">
            <a:avLst/>
          </a:prstGeom>
          <a:solidFill>
            <a:srgbClr val="E6EDEF"/>
          </a:solidFill>
          <a:ln w="12700">
            <a:solidFill>
              <a:srgbClr val="E6EDEF"/>
            </a:solidFill>
            <a:prstDash val="solid"/>
          </a:ln>
        </p:spPr>
      </p:sp>
      <p:sp>
        <p:nvSpPr>
          <p:cNvPr id="11" name="Text 9"/>
          <p:cNvSpPr txBox="1"/>
          <p:nvPr/>
        </p:nvSpPr>
        <p:spPr>
          <a:xfrm>
            <a:off x="868680" y="5394960"/>
            <a:ext cx="10424160" cy="594360"/>
          </a:xfrm>
          <a:prstGeom prst="rect">
            <a:avLst/>
          </a:prstGeom>
          <a:noFill/>
          <a:ln/>
        </p:spPr>
        <p:txBody>
          <a:bodyPr wrap="square" lIns="0" tIns="0" rIns="0" bIns="0" rtlCol="0" anchor="ctr"/>
          <a:lstStyle/>
          <a:p>
            <a:pPr indent="0" marL="0">
              <a:buNone/>
            </a:pPr>
            <a:r>
              <a:rPr lang="en-US" sz="1400" i="1" dirty="0">
                <a:solidFill>
                  <a:srgbClr val="1F4E5F"/>
                </a:solidFill>
                <a:latin typeface="Cambria" pitchFamily="34" charset="0"/>
                <a:ea typeface="Cambria" pitchFamily="34" charset="-122"/>
                <a:cs typeface="Cambria" pitchFamily="34" charset="-120"/>
              </a:rPr>
              <a:t>Every figure in the third column is one you can replace. When you do, both cases recompute, and the checks that tie them to the record still have to pass.</a:t>
            </a:r>
            <a:endParaRPr lang="en-US" sz="1400" dirty="0"/>
          </a:p>
        </p:txBody>
      </p:sp>
      <p:sp>
        <p:nvSpPr>
          <p:cNvPr id="12" name="Text 10"/>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13" name="Text 11"/>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5C6570"/>
                </a:solidFill>
                <a:latin typeface="Calibri" pitchFamily="34" charset="0"/>
                <a:ea typeface="Calibri" pitchFamily="34" charset="-122"/>
                <a:cs typeface="Calibri" pitchFamily="34" charset="-120"/>
              </a:rPr>
              <a:t>HOW IT REACHES YOUR DESK</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191C1F"/>
                </a:solidFill>
                <a:latin typeface="Cambria" pitchFamily="34" charset="0"/>
                <a:ea typeface="Cambria" pitchFamily="34" charset="-122"/>
                <a:cs typeface="Cambria" pitchFamily="34" charset="-120"/>
              </a:rPr>
              <a:t>The model is the record. Excel stays the view.</a:t>
            </a:r>
            <a:endParaRPr lang="en-US" sz="3000" dirty="0"/>
          </a:p>
        </p:txBody>
      </p:sp>
      <p:sp>
        <p:nvSpPr>
          <p:cNvPr id="4" name="Text 2"/>
          <p:cNvSpPr txBox="1"/>
          <p:nvPr/>
        </p:nvSpPr>
        <p:spPr>
          <a:xfrm>
            <a:off x="640080" y="1874520"/>
            <a:ext cx="2377440" cy="731520"/>
          </a:xfrm>
          <a:prstGeom prst="rect">
            <a:avLst/>
          </a:prstGeom>
          <a:noFill/>
          <a:ln/>
        </p:spPr>
        <p:txBody>
          <a:bodyPr wrap="square" lIns="0" tIns="0" rIns="0" bIns="0" rtlCol="0" anchor="t"/>
          <a:lstStyle/>
          <a:p>
            <a:pPr indent="0" marL="0">
              <a:buNone/>
            </a:pPr>
            <a:r>
              <a:rPr lang="en-US" sz="1600" dirty="0">
                <a:solidFill>
                  <a:srgbClr val="1F4E5F"/>
                </a:solidFill>
                <a:latin typeface="Cambria" pitchFamily="34" charset="0"/>
                <a:ea typeface="Cambria" pitchFamily="34" charset="-122"/>
                <a:cs typeface="Cambria" pitchFamily="34" charset="-120"/>
              </a:rPr>
              <a:t>Playground</a:t>
            </a:r>
            <a:endParaRPr lang="en-US" sz="1600" dirty="0"/>
          </a:p>
        </p:txBody>
      </p:sp>
      <p:sp>
        <p:nvSpPr>
          <p:cNvPr id="5" name="Text 3"/>
          <p:cNvSpPr txBox="1"/>
          <p:nvPr/>
        </p:nvSpPr>
        <p:spPr>
          <a:xfrm>
            <a:off x="3108960" y="1874520"/>
            <a:ext cx="8412480" cy="731520"/>
          </a:xfrm>
          <a:prstGeom prst="rect">
            <a:avLst/>
          </a:prstGeom>
          <a:noFill/>
          <a:ln/>
        </p:spPr>
        <p:txBody>
          <a:bodyPr wrap="square" lIns="0" tIns="0" rIns="0" bIns="0" rtlCol="0" anchor="t"/>
          <a:lstStyle/>
          <a:p>
            <a:pPr indent="0" marL="0">
              <a:buNone/>
            </a:pPr>
            <a:r>
              <a:rPr lang="en-US" sz="1300" dirty="0">
                <a:solidFill>
                  <a:srgbClr val="191C1F"/>
                </a:solidFill>
                <a:latin typeface="Calibri" pitchFamily="34" charset="0"/>
                <a:ea typeface="Calibri" pitchFamily="34" charset="-122"/>
                <a:cs typeface="Calibri" pitchFamily="34" charset="-120"/>
              </a:rPr>
              <a:t>In the browser, no install. Edit a model, run it, read the statement: revenue to NOI to DSCR to sale proceeds, monthly to annual, exported to CSV.</a:t>
            </a:r>
            <a:endParaRPr lang="en-US" sz="1300" dirty="0"/>
          </a:p>
        </p:txBody>
      </p:sp>
      <p:sp>
        <p:nvSpPr>
          <p:cNvPr id="6" name="Shape 4"/>
          <p:cNvSpPr/>
          <p:nvPr/>
        </p:nvSpPr>
        <p:spPr>
          <a:xfrm>
            <a:off x="640080" y="2642616"/>
            <a:ext cx="10881360" cy="0"/>
          </a:xfrm>
          <a:prstGeom prst="line">
            <a:avLst/>
          </a:prstGeom>
          <a:noFill/>
          <a:ln w="6350">
            <a:solidFill>
              <a:srgbClr val="E2DFDA"/>
            </a:solidFill>
            <a:prstDash val="solid"/>
          </a:ln>
        </p:spPr>
      </p:sp>
      <p:sp>
        <p:nvSpPr>
          <p:cNvPr id="7" name="Text 5"/>
          <p:cNvSpPr txBox="1"/>
          <p:nvPr/>
        </p:nvSpPr>
        <p:spPr>
          <a:xfrm>
            <a:off x="640080" y="2715768"/>
            <a:ext cx="2377440" cy="731520"/>
          </a:xfrm>
          <a:prstGeom prst="rect">
            <a:avLst/>
          </a:prstGeom>
          <a:noFill/>
          <a:ln/>
        </p:spPr>
        <p:txBody>
          <a:bodyPr wrap="square" lIns="0" tIns="0" rIns="0" bIns="0" rtlCol="0" anchor="t"/>
          <a:lstStyle/>
          <a:p>
            <a:pPr indent="0" marL="0">
              <a:buNone/>
            </a:pPr>
            <a:r>
              <a:rPr lang="en-US" sz="1600" dirty="0">
                <a:solidFill>
                  <a:srgbClr val="1F4E5F"/>
                </a:solidFill>
                <a:latin typeface="Cambria" pitchFamily="34" charset="0"/>
                <a:ea typeface="Cambria" pitchFamily="34" charset="-122"/>
                <a:cs typeface="Cambria" pitchFamily="34" charset="-120"/>
              </a:rPr>
              <a:t>Python and API</a:t>
            </a:r>
            <a:endParaRPr lang="en-US" sz="1600" dirty="0"/>
          </a:p>
        </p:txBody>
      </p:sp>
      <p:sp>
        <p:nvSpPr>
          <p:cNvPr id="8" name="Text 6"/>
          <p:cNvSpPr txBox="1"/>
          <p:nvPr/>
        </p:nvSpPr>
        <p:spPr>
          <a:xfrm>
            <a:off x="3108960" y="2715768"/>
            <a:ext cx="8412480" cy="731520"/>
          </a:xfrm>
          <a:prstGeom prst="rect">
            <a:avLst/>
          </a:prstGeom>
          <a:noFill/>
          <a:ln/>
        </p:spPr>
        <p:txBody>
          <a:bodyPr wrap="square" lIns="0" tIns="0" rIns="0" bIns="0" rtlCol="0" anchor="t"/>
          <a:lstStyle/>
          <a:p>
            <a:pPr indent="0" marL="0">
              <a:buNone/>
            </a:pPr>
            <a:r>
              <a:rPr lang="en-US" sz="1300" dirty="0">
                <a:solidFill>
                  <a:srgbClr val="191C1F"/>
                </a:solidFill>
                <a:latin typeface="Calibri" pitchFamily="34" charset="0"/>
                <a:ea typeface="Calibri" pitchFamily="34" charset="-122"/>
                <a:cs typeface="Calibri" pitchFamily="34" charset="-120"/>
              </a:rPr>
              <a:t>Results as data frames for the analyst; a server for saved runs and for the systems that consume them.</a:t>
            </a:r>
            <a:endParaRPr lang="en-US" sz="1300" dirty="0"/>
          </a:p>
        </p:txBody>
      </p:sp>
      <p:sp>
        <p:nvSpPr>
          <p:cNvPr id="9" name="Shape 7"/>
          <p:cNvSpPr/>
          <p:nvPr/>
        </p:nvSpPr>
        <p:spPr>
          <a:xfrm>
            <a:off x="640080" y="3483864"/>
            <a:ext cx="10881360" cy="0"/>
          </a:xfrm>
          <a:prstGeom prst="line">
            <a:avLst/>
          </a:prstGeom>
          <a:noFill/>
          <a:ln w="6350">
            <a:solidFill>
              <a:srgbClr val="E2DFDA"/>
            </a:solidFill>
            <a:prstDash val="solid"/>
          </a:ln>
        </p:spPr>
      </p:sp>
      <p:sp>
        <p:nvSpPr>
          <p:cNvPr id="10" name="Text 8"/>
          <p:cNvSpPr txBox="1"/>
          <p:nvPr/>
        </p:nvSpPr>
        <p:spPr>
          <a:xfrm>
            <a:off x="640080" y="3557016"/>
            <a:ext cx="2377440" cy="731520"/>
          </a:xfrm>
          <a:prstGeom prst="rect">
            <a:avLst/>
          </a:prstGeom>
          <a:noFill/>
          <a:ln/>
        </p:spPr>
        <p:txBody>
          <a:bodyPr wrap="square" lIns="0" tIns="0" rIns="0" bIns="0" rtlCol="0" anchor="t"/>
          <a:lstStyle/>
          <a:p>
            <a:pPr indent="0" marL="0">
              <a:buNone/>
            </a:pPr>
            <a:r>
              <a:rPr lang="en-US" sz="1600" dirty="0">
                <a:solidFill>
                  <a:srgbClr val="1F4E5F"/>
                </a:solidFill>
                <a:latin typeface="Cambria" pitchFamily="34" charset="0"/>
                <a:ea typeface="Cambria" pitchFamily="34" charset="-122"/>
                <a:cs typeface="Cambria" pitchFamily="34" charset="-120"/>
              </a:rPr>
              <a:t>Editor</a:t>
            </a:r>
            <a:endParaRPr lang="en-US" sz="1600" dirty="0"/>
          </a:p>
        </p:txBody>
      </p:sp>
      <p:sp>
        <p:nvSpPr>
          <p:cNvPr id="11" name="Text 9"/>
          <p:cNvSpPr txBox="1"/>
          <p:nvPr/>
        </p:nvSpPr>
        <p:spPr>
          <a:xfrm>
            <a:off x="3108960" y="3557016"/>
            <a:ext cx="8412480" cy="731520"/>
          </a:xfrm>
          <a:prstGeom prst="rect">
            <a:avLst/>
          </a:prstGeom>
          <a:noFill/>
          <a:ln/>
        </p:spPr>
        <p:txBody>
          <a:bodyPr wrap="square" lIns="0" tIns="0" rIns="0" bIns="0" rtlCol="0" anchor="t"/>
          <a:lstStyle/>
          <a:p>
            <a:pPr indent="0" marL="0">
              <a:buNone/>
            </a:pPr>
            <a:r>
              <a:rPr lang="en-US" sz="1300" dirty="0">
                <a:solidFill>
                  <a:srgbClr val="191C1F"/>
                </a:solidFill>
                <a:latin typeface="Calibri" pitchFamily="34" charset="0"/>
                <a:ea typeface="Calibri" pitchFamily="34" charset="-122"/>
                <a:cs typeface="Calibri" pitchFamily="34" charset="-120"/>
              </a:rPr>
              <a:t>VS Code with diagnostics: a misspelled account or an undeclared input is named at the line, before anything runs.</a:t>
            </a:r>
            <a:endParaRPr lang="en-US" sz="1300" dirty="0"/>
          </a:p>
        </p:txBody>
      </p:sp>
      <p:sp>
        <p:nvSpPr>
          <p:cNvPr id="12" name="Shape 10"/>
          <p:cNvSpPr/>
          <p:nvPr/>
        </p:nvSpPr>
        <p:spPr>
          <a:xfrm>
            <a:off x="640080" y="4325112"/>
            <a:ext cx="10881360" cy="0"/>
          </a:xfrm>
          <a:prstGeom prst="line">
            <a:avLst/>
          </a:prstGeom>
          <a:noFill/>
          <a:ln w="6350">
            <a:solidFill>
              <a:srgbClr val="E2DFDA"/>
            </a:solidFill>
            <a:prstDash val="solid"/>
          </a:ln>
        </p:spPr>
      </p:sp>
      <p:sp>
        <p:nvSpPr>
          <p:cNvPr id="13" name="Text 11"/>
          <p:cNvSpPr txBox="1"/>
          <p:nvPr/>
        </p:nvSpPr>
        <p:spPr>
          <a:xfrm>
            <a:off x="640080" y="4398264"/>
            <a:ext cx="2377440" cy="731520"/>
          </a:xfrm>
          <a:prstGeom prst="rect">
            <a:avLst/>
          </a:prstGeom>
          <a:noFill/>
          <a:ln/>
        </p:spPr>
        <p:txBody>
          <a:bodyPr wrap="square" lIns="0" tIns="0" rIns="0" bIns="0" rtlCol="0" anchor="t"/>
          <a:lstStyle/>
          <a:p>
            <a:pPr indent="0" marL="0">
              <a:buNone/>
            </a:pPr>
            <a:r>
              <a:rPr lang="en-US" sz="1600" dirty="0">
                <a:solidFill>
                  <a:srgbClr val="1F4E5F"/>
                </a:solidFill>
                <a:latin typeface="Cambria" pitchFamily="34" charset="0"/>
                <a:ea typeface="Cambria" pitchFamily="34" charset="-122"/>
                <a:cs typeface="Cambria" pitchFamily="34" charset="-120"/>
              </a:rPr>
              <a:t>The Academy</a:t>
            </a:r>
            <a:endParaRPr lang="en-US" sz="1600" dirty="0"/>
          </a:p>
        </p:txBody>
      </p:sp>
      <p:sp>
        <p:nvSpPr>
          <p:cNvPr id="14" name="Text 12"/>
          <p:cNvSpPr txBox="1"/>
          <p:nvPr/>
        </p:nvSpPr>
        <p:spPr>
          <a:xfrm>
            <a:off x="3108960" y="4398264"/>
            <a:ext cx="8412480" cy="731520"/>
          </a:xfrm>
          <a:prstGeom prst="rect">
            <a:avLst/>
          </a:prstGeom>
          <a:noFill/>
          <a:ln/>
        </p:spPr>
        <p:txBody>
          <a:bodyPr wrap="square" lIns="0" tIns="0" rIns="0" bIns="0" rtlCol="0" anchor="t"/>
          <a:lstStyle/>
          <a:p>
            <a:pPr indent="0" marL="0">
              <a:buNone/>
            </a:pPr>
            <a:r>
              <a:rPr lang="en-US" sz="1300" dirty="0">
                <a:solidFill>
                  <a:srgbClr val="191C1F"/>
                </a:solidFill>
                <a:latin typeface="Calibri" pitchFamily="34" charset="0"/>
                <a:ea typeface="Calibri" pitchFamily="34" charset="-122"/>
                <a:cs typeface="Calibri" pitchFamily="34" charset="-120"/>
              </a:rPr>
              <a:t>learn.cfdl.dev: 28 chapters and 23 runnable exercises, ending in a ground-up development with a construction facility, a permanent takeout, a promote waterfall and a downside scenario.</a:t>
            </a:r>
            <a:endParaRPr lang="en-US" sz="1300" dirty="0"/>
          </a:p>
        </p:txBody>
      </p:sp>
      <p:sp>
        <p:nvSpPr>
          <p:cNvPr id="15" name="Shape 13"/>
          <p:cNvSpPr/>
          <p:nvPr/>
        </p:nvSpPr>
        <p:spPr>
          <a:xfrm>
            <a:off x="640080" y="5166360"/>
            <a:ext cx="10881360" cy="0"/>
          </a:xfrm>
          <a:prstGeom prst="line">
            <a:avLst/>
          </a:prstGeom>
          <a:noFill/>
          <a:ln w="6350">
            <a:solidFill>
              <a:srgbClr val="E2DFDA"/>
            </a:solidFill>
            <a:prstDash val="solid"/>
          </a:ln>
        </p:spPr>
      </p:sp>
      <p:sp>
        <p:nvSpPr>
          <p:cNvPr id="16" name="Text 14"/>
          <p:cNvSpPr txBox="1"/>
          <p:nvPr/>
        </p:nvSpPr>
        <p:spPr>
          <a:xfrm>
            <a:off x="640080" y="5239512"/>
            <a:ext cx="2377440" cy="731520"/>
          </a:xfrm>
          <a:prstGeom prst="rect">
            <a:avLst/>
          </a:prstGeom>
          <a:noFill/>
          <a:ln/>
        </p:spPr>
        <p:txBody>
          <a:bodyPr wrap="square" lIns="0" tIns="0" rIns="0" bIns="0" rtlCol="0" anchor="t"/>
          <a:lstStyle/>
          <a:p>
            <a:pPr indent="0" marL="0">
              <a:buNone/>
            </a:pPr>
            <a:r>
              <a:rPr lang="en-US" sz="1600" dirty="0">
                <a:solidFill>
                  <a:srgbClr val="1F4E5F"/>
                </a:solidFill>
                <a:latin typeface="Cambria" pitchFamily="34" charset="0"/>
                <a:ea typeface="Cambria" pitchFamily="34" charset="-122"/>
                <a:cs typeface="Cambria" pitchFamily="34" charset="-120"/>
              </a:rPr>
              <a:t>Migration and audit</a:t>
            </a:r>
            <a:endParaRPr lang="en-US" sz="1600" dirty="0"/>
          </a:p>
        </p:txBody>
      </p:sp>
      <p:sp>
        <p:nvSpPr>
          <p:cNvPr id="17" name="Text 15"/>
          <p:cNvSpPr txBox="1"/>
          <p:nvPr/>
        </p:nvSpPr>
        <p:spPr>
          <a:xfrm>
            <a:off x="3108960" y="5239512"/>
            <a:ext cx="8412480" cy="731520"/>
          </a:xfrm>
          <a:prstGeom prst="rect">
            <a:avLst/>
          </a:prstGeom>
          <a:noFill/>
          <a:ln/>
        </p:spPr>
        <p:txBody>
          <a:bodyPr wrap="square" lIns="0" tIns="0" rIns="0" bIns="0" rtlCol="0" anchor="t"/>
          <a:lstStyle/>
          <a:p>
            <a:pPr indent="0" marL="0">
              <a:buNone/>
            </a:pPr>
            <a:r>
              <a:rPr lang="en-US" sz="1300" dirty="0">
                <a:solidFill>
                  <a:srgbClr val="191C1F"/>
                </a:solidFill>
                <a:latin typeface="Calibri" pitchFamily="34" charset="0"/>
                <a:ea typeface="Calibri" pitchFamily="34" charset="-122"/>
                <a:cs typeface="Calibri" pitchFamily="34" charset="-120"/>
              </a:rPr>
              <a:t>An existing workbook, rebuilt in CFDL and reconciled to it period by period. The discrepancies are the deliverable.</a:t>
            </a:r>
            <a:endParaRPr lang="en-US" sz="1300" dirty="0"/>
          </a:p>
        </p:txBody>
      </p:sp>
      <p:sp>
        <p:nvSpPr>
          <p:cNvPr id="18" name="Text 16"/>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CFDL · Penzance · September 2026</a:t>
            </a:r>
            <a:endParaRPr lang="en-US" sz="900" dirty="0"/>
          </a:p>
        </p:txBody>
      </p:sp>
      <p:sp>
        <p:nvSpPr>
          <p:cNvPr id="19" name="Text 17"/>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5C65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spc="200" kern="0" dirty="0">
                <a:solidFill>
                  <a:srgbClr val="79ADBD"/>
                </a:solidFill>
                <a:latin typeface="Calibri" pitchFamily="34" charset="0"/>
                <a:ea typeface="Calibri" pitchFamily="34" charset="-122"/>
                <a:cs typeface="Calibri" pitchFamily="34" charset="-120"/>
              </a:rPr>
              <a:t>NEXT</a:t>
            </a:r>
            <a:endParaRPr lang="en-US" sz="1100" dirty="0"/>
          </a:p>
        </p:txBody>
      </p:sp>
      <p:sp>
        <p:nvSpPr>
          <p:cNvPr id="3" name="Text 1"/>
          <p:cNvSpPr txBox="1"/>
          <p:nvPr/>
        </p:nvSpPr>
        <p:spPr>
          <a:xfrm>
            <a:off x="640080" y="777240"/>
            <a:ext cx="10908792" cy="960120"/>
          </a:xfrm>
          <a:prstGeom prst="rect">
            <a:avLst/>
          </a:prstGeom>
          <a:noFill/>
          <a:ln/>
        </p:spPr>
        <p:txBody>
          <a:bodyPr wrap="square" lIns="0" tIns="0" rIns="0" bIns="0" rtlCol="0" anchor="t"/>
          <a:lstStyle/>
          <a:p>
            <a:pPr indent="0" marL="0">
              <a:buNone/>
            </a:pPr>
            <a:r>
              <a:rPr lang="en-US" sz="3000" dirty="0">
                <a:solidFill>
                  <a:srgbClr val="E8E6E2"/>
                </a:solidFill>
                <a:latin typeface="Cambria" pitchFamily="34" charset="0"/>
                <a:ea typeface="Cambria" pitchFamily="34" charset="-122"/>
                <a:cs typeface="Cambria" pitchFamily="34" charset="-120"/>
              </a:rPr>
              <a:t>What we would like from Penzance</a:t>
            </a:r>
            <a:endParaRPr lang="en-US" sz="3000" dirty="0"/>
          </a:p>
        </p:txBody>
      </p:sp>
      <p:sp>
        <p:nvSpPr>
          <p:cNvPr id="4" name="Shape 2"/>
          <p:cNvSpPr/>
          <p:nvPr/>
        </p:nvSpPr>
        <p:spPr>
          <a:xfrm>
            <a:off x="640080" y="2011680"/>
            <a:ext cx="5349240" cy="1828800"/>
          </a:xfrm>
          <a:prstGeom prst="rect">
            <a:avLst/>
          </a:prstGeom>
          <a:solidFill>
            <a:srgbClr val="1A1E22"/>
          </a:solidFill>
          <a:ln w="12700">
            <a:solidFill>
              <a:srgbClr val="1A1E22"/>
            </a:solidFill>
            <a:prstDash val="solid"/>
          </a:ln>
        </p:spPr>
      </p:sp>
      <p:sp>
        <p:nvSpPr>
          <p:cNvPr id="5" name="Text 3"/>
          <p:cNvSpPr txBox="1"/>
          <p:nvPr/>
        </p:nvSpPr>
        <p:spPr>
          <a:xfrm>
            <a:off x="914400" y="2240280"/>
            <a:ext cx="4800600" cy="411480"/>
          </a:xfrm>
          <a:prstGeom prst="rect">
            <a:avLst/>
          </a:prstGeom>
          <a:noFill/>
          <a:ln/>
        </p:spPr>
        <p:txBody>
          <a:bodyPr wrap="square" lIns="0" tIns="0" rIns="0" bIns="0" rtlCol="0" anchor="ctr"/>
          <a:lstStyle/>
          <a:p>
            <a:pPr indent="0" marL="0">
              <a:buNone/>
            </a:pPr>
            <a:r>
              <a:rPr lang="en-US" sz="2000" dirty="0">
                <a:solidFill>
                  <a:srgbClr val="E8E6E2"/>
                </a:solidFill>
                <a:latin typeface="Cambria" pitchFamily="34" charset="0"/>
                <a:ea typeface="Cambria" pitchFamily="34" charset="-122"/>
                <a:cs typeface="Cambria" pitchFamily="34" charset="-120"/>
              </a:rPr>
              <a:t>Review both cases</a:t>
            </a:r>
            <a:endParaRPr lang="en-US" sz="2000" dirty="0"/>
          </a:p>
        </p:txBody>
      </p:sp>
      <p:sp>
        <p:nvSpPr>
          <p:cNvPr id="6" name="Text 4"/>
          <p:cNvSpPr txBox="1"/>
          <p:nvPr/>
        </p:nvSpPr>
        <p:spPr>
          <a:xfrm>
            <a:off x="914400" y="2743200"/>
            <a:ext cx="4800600" cy="1005840"/>
          </a:xfrm>
          <a:prstGeom prst="rect">
            <a:avLst/>
          </a:prstGeom>
          <a:noFill/>
          <a:ln/>
        </p:spPr>
        <p:txBody>
          <a:bodyPr wrap="square" lIns="0" tIns="0" rIns="0" bIns="0" rtlCol="0" anchor="t"/>
          <a:lstStyle/>
          <a:p>
            <a:pPr indent="0" marL="0">
              <a:buNone/>
            </a:pPr>
            <a:r>
              <a:rPr lang="en-US" sz="1350" dirty="0">
                <a:solidFill>
                  <a:srgbClr val="969EA6"/>
                </a:solidFill>
                <a:latin typeface="Calibri" pitchFamily="34" charset="0"/>
                <a:ea typeface="Calibri" pitchFamily="34" charset="-122"/>
                <a:cs typeface="Calibri" pitchFamily="34" charset="-120"/>
              </a:rPr>
              <a:t>Both are marked pending practitioner review. Your corrections to cost, pace and debt pricing turn placeholders into a record.</a:t>
            </a:r>
            <a:endParaRPr lang="en-US" sz="1350" dirty="0"/>
          </a:p>
        </p:txBody>
      </p:sp>
      <p:sp>
        <p:nvSpPr>
          <p:cNvPr id="7" name="Shape 5"/>
          <p:cNvSpPr/>
          <p:nvPr/>
        </p:nvSpPr>
        <p:spPr>
          <a:xfrm>
            <a:off x="6217920" y="2011680"/>
            <a:ext cx="5349240" cy="1828800"/>
          </a:xfrm>
          <a:prstGeom prst="rect">
            <a:avLst/>
          </a:prstGeom>
          <a:solidFill>
            <a:srgbClr val="1A1E22"/>
          </a:solidFill>
          <a:ln w="12700">
            <a:solidFill>
              <a:srgbClr val="1A1E22"/>
            </a:solidFill>
            <a:prstDash val="solid"/>
          </a:ln>
        </p:spPr>
      </p:sp>
      <p:sp>
        <p:nvSpPr>
          <p:cNvPr id="8" name="Text 6"/>
          <p:cNvSpPr txBox="1"/>
          <p:nvPr/>
        </p:nvSpPr>
        <p:spPr>
          <a:xfrm>
            <a:off x="6492240" y="2240280"/>
            <a:ext cx="4800600" cy="411480"/>
          </a:xfrm>
          <a:prstGeom prst="rect">
            <a:avLst/>
          </a:prstGeom>
          <a:noFill/>
          <a:ln/>
        </p:spPr>
        <p:txBody>
          <a:bodyPr wrap="square" lIns="0" tIns="0" rIns="0" bIns="0" rtlCol="0" anchor="ctr"/>
          <a:lstStyle/>
          <a:p>
            <a:pPr indent="0" marL="0">
              <a:buNone/>
            </a:pPr>
            <a:r>
              <a:rPr lang="en-US" sz="2000" dirty="0">
                <a:solidFill>
                  <a:srgbClr val="E8E6E2"/>
                </a:solidFill>
                <a:latin typeface="Cambria" pitchFamily="34" charset="0"/>
                <a:ea typeface="Cambria" pitchFamily="34" charset="-122"/>
                <a:cs typeface="Cambria" pitchFamily="34" charset="-120"/>
              </a:rPr>
              <a:t>The terms, under NDA</a:t>
            </a:r>
            <a:endParaRPr lang="en-US" sz="2000" dirty="0"/>
          </a:p>
        </p:txBody>
      </p:sp>
      <p:sp>
        <p:nvSpPr>
          <p:cNvPr id="9" name="Text 7"/>
          <p:cNvSpPr txBox="1"/>
          <p:nvPr/>
        </p:nvSpPr>
        <p:spPr>
          <a:xfrm>
            <a:off x="6492240" y="2743200"/>
            <a:ext cx="4800600" cy="1005840"/>
          </a:xfrm>
          <a:prstGeom prst="rect">
            <a:avLst/>
          </a:prstGeom>
          <a:noFill/>
          <a:ln/>
        </p:spPr>
        <p:txBody>
          <a:bodyPr wrap="square" lIns="0" tIns="0" rIns="0" bIns="0" rtlCol="0" anchor="t"/>
          <a:lstStyle/>
          <a:p>
            <a:pPr indent="0" marL="0">
              <a:buNone/>
            </a:pPr>
            <a:r>
              <a:rPr lang="en-US" sz="1350" dirty="0">
                <a:solidFill>
                  <a:srgbClr val="969EA6"/>
                </a:solidFill>
                <a:latin typeface="Calibri" pitchFamily="34" charset="0"/>
                <a:ea typeface="Calibri" pitchFamily="34" charset="-122"/>
                <a:cs typeface="Calibri" pitchFamily="34" charset="-120"/>
              </a:rPr>
              <a:t>So the split is yours rather than a stand-in, and the return per partner means what it says.</a:t>
            </a:r>
            <a:endParaRPr lang="en-US" sz="1350" dirty="0"/>
          </a:p>
        </p:txBody>
      </p:sp>
      <p:sp>
        <p:nvSpPr>
          <p:cNvPr id="10" name="Shape 8"/>
          <p:cNvSpPr/>
          <p:nvPr/>
        </p:nvSpPr>
        <p:spPr>
          <a:xfrm>
            <a:off x="640080" y="4023360"/>
            <a:ext cx="5349240" cy="1828800"/>
          </a:xfrm>
          <a:prstGeom prst="rect">
            <a:avLst/>
          </a:prstGeom>
          <a:solidFill>
            <a:srgbClr val="1A1E22"/>
          </a:solidFill>
          <a:ln w="12700">
            <a:solidFill>
              <a:srgbClr val="1A1E22"/>
            </a:solidFill>
            <a:prstDash val="solid"/>
          </a:ln>
        </p:spPr>
      </p:sp>
      <p:sp>
        <p:nvSpPr>
          <p:cNvPr id="11" name="Text 9"/>
          <p:cNvSpPr txBox="1"/>
          <p:nvPr/>
        </p:nvSpPr>
        <p:spPr>
          <a:xfrm>
            <a:off x="914400" y="4251960"/>
            <a:ext cx="4800600" cy="411480"/>
          </a:xfrm>
          <a:prstGeom prst="rect">
            <a:avLst/>
          </a:prstGeom>
          <a:noFill/>
          <a:ln/>
        </p:spPr>
        <p:txBody>
          <a:bodyPr wrap="square" lIns="0" tIns="0" rIns="0" bIns="0" rtlCol="0" anchor="ctr"/>
          <a:lstStyle/>
          <a:p>
            <a:pPr indent="0" marL="0">
              <a:buNone/>
            </a:pPr>
            <a:r>
              <a:rPr lang="en-US" sz="2000" dirty="0">
                <a:solidFill>
                  <a:srgbClr val="E8E6E2"/>
                </a:solidFill>
                <a:latin typeface="Cambria" pitchFamily="34" charset="0"/>
                <a:ea typeface="Cambria" pitchFamily="34" charset="-122"/>
                <a:cs typeface="Cambria" pitchFamily="34" charset="-120"/>
              </a:rPr>
              <a:t>A third building</a:t>
            </a:r>
            <a:endParaRPr lang="en-US" sz="2000" dirty="0"/>
          </a:p>
        </p:txBody>
      </p:sp>
      <p:sp>
        <p:nvSpPr>
          <p:cNvPr id="12" name="Text 10"/>
          <p:cNvSpPr txBox="1"/>
          <p:nvPr/>
        </p:nvSpPr>
        <p:spPr>
          <a:xfrm>
            <a:off x="914400" y="4754880"/>
            <a:ext cx="4800600" cy="1005840"/>
          </a:xfrm>
          <a:prstGeom prst="rect">
            <a:avLst/>
          </a:prstGeom>
          <a:noFill/>
          <a:ln/>
        </p:spPr>
        <p:txBody>
          <a:bodyPr wrap="square" lIns="0" tIns="0" rIns="0" bIns="0" rtlCol="0" anchor="t"/>
          <a:lstStyle/>
          <a:p>
            <a:pPr indent="0" marL="0">
              <a:buNone/>
            </a:pPr>
            <a:r>
              <a:rPr lang="en-US" sz="1350" dirty="0">
                <a:solidFill>
                  <a:srgbClr val="969EA6"/>
                </a:solidFill>
                <a:latin typeface="Calibri" pitchFamily="34" charset="0"/>
                <a:ea typeface="Calibri" pitchFamily="34" charset="-122"/>
                <a:cs typeface="Calibri" pitchFamily="34" charset="-120"/>
              </a:rPr>
              <a:t>An operating asset of your choosing, so the lease and rollover machinery runs on your rent roll rather than a textbook's.</a:t>
            </a:r>
            <a:endParaRPr lang="en-US" sz="1350" dirty="0"/>
          </a:p>
        </p:txBody>
      </p:sp>
      <p:sp>
        <p:nvSpPr>
          <p:cNvPr id="13" name="Shape 11"/>
          <p:cNvSpPr/>
          <p:nvPr/>
        </p:nvSpPr>
        <p:spPr>
          <a:xfrm>
            <a:off x="6217920" y="4023360"/>
            <a:ext cx="5349240" cy="1828800"/>
          </a:xfrm>
          <a:prstGeom prst="rect">
            <a:avLst/>
          </a:prstGeom>
          <a:solidFill>
            <a:srgbClr val="1A1E22"/>
          </a:solidFill>
          <a:ln w="12700">
            <a:solidFill>
              <a:srgbClr val="1A1E22"/>
            </a:solidFill>
            <a:prstDash val="solid"/>
          </a:ln>
        </p:spPr>
      </p:sp>
      <p:sp>
        <p:nvSpPr>
          <p:cNvPr id="14" name="Text 12"/>
          <p:cNvSpPr txBox="1"/>
          <p:nvPr/>
        </p:nvSpPr>
        <p:spPr>
          <a:xfrm>
            <a:off x="6492240" y="4251960"/>
            <a:ext cx="4800600" cy="411480"/>
          </a:xfrm>
          <a:prstGeom prst="rect">
            <a:avLst/>
          </a:prstGeom>
          <a:noFill/>
          <a:ln/>
        </p:spPr>
        <p:txBody>
          <a:bodyPr wrap="square" lIns="0" tIns="0" rIns="0" bIns="0" rtlCol="0" anchor="ctr"/>
          <a:lstStyle/>
          <a:p>
            <a:pPr indent="0" marL="0">
              <a:buNone/>
            </a:pPr>
            <a:r>
              <a:rPr lang="en-US" sz="2000" dirty="0">
                <a:solidFill>
                  <a:srgbClr val="E8E6E2"/>
                </a:solidFill>
                <a:latin typeface="Cambria" pitchFamily="34" charset="0"/>
                <a:ea typeface="Cambria" pitchFamily="34" charset="-122"/>
                <a:cs typeface="Cambria" pitchFamily="34" charset="-120"/>
              </a:rPr>
              <a:t>A pilot</a:t>
            </a:r>
            <a:endParaRPr lang="en-US" sz="2000" dirty="0"/>
          </a:p>
        </p:txBody>
      </p:sp>
      <p:sp>
        <p:nvSpPr>
          <p:cNvPr id="15" name="Text 13"/>
          <p:cNvSpPr txBox="1"/>
          <p:nvPr/>
        </p:nvSpPr>
        <p:spPr>
          <a:xfrm>
            <a:off x="6492240" y="4754880"/>
            <a:ext cx="4800600" cy="1005840"/>
          </a:xfrm>
          <a:prstGeom prst="rect">
            <a:avLst/>
          </a:prstGeom>
          <a:noFill/>
          <a:ln/>
        </p:spPr>
        <p:txBody>
          <a:bodyPr wrap="square" lIns="0" tIns="0" rIns="0" bIns="0" rtlCol="0" anchor="t"/>
          <a:lstStyle/>
          <a:p>
            <a:pPr indent="0" marL="0">
              <a:buNone/>
            </a:pPr>
            <a:r>
              <a:rPr lang="en-US" sz="1350" dirty="0">
                <a:solidFill>
                  <a:srgbClr val="969EA6"/>
                </a:solidFill>
                <a:latin typeface="Calibri" pitchFamily="34" charset="0"/>
                <a:ea typeface="Calibri" pitchFamily="34" charset="-122"/>
                <a:cs typeface="Calibri" pitchFamily="34" charset="-120"/>
              </a:rPr>
              <a:t>One analyst, one deal, one quarter. Start with the migration of a model you already trust, and reconcile the two.</a:t>
            </a:r>
            <a:endParaRPr lang="en-US" sz="1350" dirty="0"/>
          </a:p>
        </p:txBody>
      </p:sp>
      <p:sp>
        <p:nvSpPr>
          <p:cNvPr id="16" name="Text 14"/>
          <p:cNvSpPr txBox="1"/>
          <p:nvPr/>
        </p:nvSpPr>
        <p:spPr>
          <a:xfrm>
            <a:off x="640080" y="5989320"/>
            <a:ext cx="10881360" cy="365760"/>
          </a:xfrm>
          <a:prstGeom prst="rect">
            <a:avLst/>
          </a:prstGeom>
          <a:noFill/>
          <a:ln/>
        </p:spPr>
        <p:txBody>
          <a:bodyPr wrap="square" lIns="0" tIns="0" rIns="0" bIns="0" rtlCol="0" anchor="ctr"/>
          <a:lstStyle/>
          <a:p>
            <a:pPr indent="0" marL="0">
              <a:buNone/>
            </a:pPr>
            <a:r>
              <a:rPr lang="en-US" sz="1600" i="1" dirty="0">
                <a:solidFill>
                  <a:srgbClr val="79ADBD"/>
                </a:solidFill>
                <a:latin typeface="Cambria" pitchFamily="34" charset="0"/>
                <a:ea typeface="Cambria" pitchFamily="34" charset="-122"/>
                <a:cs typeface="Cambria" pitchFamily="34" charset="-120"/>
              </a:rPr>
              <a:t>You have the record. We have the machine that checks it. Pick the building.</a:t>
            </a:r>
            <a:endParaRPr lang="en-US" sz="1600" dirty="0"/>
          </a:p>
        </p:txBody>
      </p:sp>
      <p:sp>
        <p:nvSpPr>
          <p:cNvPr id="17" name="Text 15"/>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969EA6"/>
                </a:solidFill>
                <a:latin typeface="Calibri" pitchFamily="34" charset="0"/>
                <a:ea typeface="Calibri" pitchFamily="34" charset="-122"/>
                <a:cs typeface="Calibri" pitchFamily="34" charset="-120"/>
              </a:rPr>
              <a:t>CFDL · Penzance · September 2026</a:t>
            </a:r>
            <a:endParaRPr lang="en-US" sz="900" dirty="0"/>
          </a:p>
        </p:txBody>
      </p:sp>
      <p:sp>
        <p:nvSpPr>
          <p:cNvPr id="18" name="Text 16"/>
          <p:cNvSpPr txBox="1"/>
          <p:nvPr/>
        </p:nvSpPr>
        <p:spPr>
          <a:xfrm>
            <a:off x="10908792" y="6400800"/>
            <a:ext cx="640080" cy="274320"/>
          </a:xfrm>
          <a:prstGeom prst="rect">
            <a:avLst/>
          </a:prstGeom>
          <a:noFill/>
          <a:ln/>
        </p:spPr>
        <p:txBody>
          <a:bodyPr wrap="square" lIns="0" tIns="0" rIns="0" bIns="0" rtlCol="0" anchor="ctr"/>
          <a:lstStyle/>
          <a:p>
            <a:pPr algn="r" indent="0" marL="0">
              <a:buNone/>
            </a:pPr>
            <a:r>
              <a:rPr lang="en-US" sz="900" dirty="0">
                <a:solidFill>
                  <a:srgbClr val="969EA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CFDL for Penzance</dc:title>
  <dc:subject>PptxGenJS Presentation</dc:subject>
  <dc:creator>PptxGenJS</dc:creator>
  <cp:lastModifiedBy>PptxGenJS</cp:lastModifiedBy>
  <cp:revision>1</cp:revision>
  <dcterms:created xsi:type="dcterms:W3CDTF">2026-09-13T13:34:50Z</dcterms:created>
  <dcterms:modified xsi:type="dcterms:W3CDTF">2026-09-13T13:34:50Z</dcterms:modified>
</cp:coreProperties>
</file>